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78" r:id="rId4"/>
    <p:sldId id="276" r:id="rId5"/>
    <p:sldId id="274" r:id="rId6"/>
    <p:sldId id="277" r:id="rId7"/>
    <p:sldId id="260" r:id="rId8"/>
    <p:sldId id="283" r:id="rId9"/>
    <p:sldId id="259" r:id="rId10"/>
    <p:sldId id="261" r:id="rId11"/>
    <p:sldId id="262" r:id="rId12"/>
    <p:sldId id="275" r:id="rId13"/>
    <p:sldId id="279" r:id="rId14"/>
    <p:sldId id="280" r:id="rId15"/>
    <p:sldId id="281" r:id="rId16"/>
    <p:sldId id="282" r:id="rId17"/>
    <p:sldId id="284" r:id="rId18"/>
    <p:sldId id="270" r:id="rId19"/>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226" autoAdjust="0"/>
  </p:normalViewPr>
  <p:slideViewPr>
    <p:cSldViewPr>
      <p:cViewPr varScale="1">
        <p:scale>
          <a:sx n="158" d="100"/>
          <a:sy n="158" d="100"/>
        </p:scale>
        <p:origin x="1541"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DF3778B6-0FD6-426B-B8AA-E675558D9E6E}" type="datetimeFigureOut">
              <a:rPr lang="en-IN" smtClean="0"/>
              <a:t>10-10-2025</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B976A37E-CDB1-4769-BC34-3C4BEFA33A39}" type="slidenum">
              <a:rPr lang="en-IN" smtClean="0"/>
              <a:t>‹#›</a:t>
            </a:fld>
            <a:endParaRPr lang="en-IN"/>
          </a:p>
        </p:txBody>
      </p:sp>
    </p:spTree>
    <p:extLst>
      <p:ext uri="{BB962C8B-B14F-4D97-AF65-F5344CB8AC3E}">
        <p14:creationId xmlns:p14="http://schemas.microsoft.com/office/powerpoint/2010/main" val="49316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76A37E-CDB1-4769-BC34-3C4BEFA33A39}" type="slidenum">
              <a:rPr lang="en-IN" smtClean="0"/>
              <a:t>9</a:t>
            </a:fld>
            <a:endParaRPr lang="en-IN"/>
          </a:p>
        </p:txBody>
      </p:sp>
    </p:spTree>
    <p:extLst>
      <p:ext uri="{BB962C8B-B14F-4D97-AF65-F5344CB8AC3E}">
        <p14:creationId xmlns:p14="http://schemas.microsoft.com/office/powerpoint/2010/main" val="101767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15</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15</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6" name="Holder 6"/>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15</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4" name="Holder 4"/>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15</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3" name="Holder 3"/>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15</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45565"/>
            <a:ext cx="1210945" cy="244475"/>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a:xfrm>
            <a:off x="402932" y="654391"/>
            <a:ext cx="4079240" cy="2236470"/>
          </a:xfrm>
          <a:prstGeom prst="rect">
            <a:avLst/>
          </a:prstGeom>
        </p:spPr>
        <p:txBody>
          <a:bodyPr wrap="square" lIns="0" tIns="0" rIns="0" bIns="0">
            <a:spAutoFit/>
          </a:bodyPr>
          <a:lstStyle>
            <a:lvl1pPr>
              <a:defRPr sz="11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21944" y="3331252"/>
            <a:ext cx="69215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5" name="Holder 5"/>
          <p:cNvSpPr>
            <a:spLocks noGrp="1"/>
          </p:cNvSpPr>
          <p:nvPr>
            <p:ph type="dt" sz="half" idx="6"/>
          </p:nvPr>
        </p:nvSpPr>
        <p:spPr>
          <a:xfrm>
            <a:off x="3432695" y="3331252"/>
            <a:ext cx="599439"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a:xfrm>
            <a:off x="4275161" y="3331252"/>
            <a:ext cx="26670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15</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hyperlink" Target="https://docs.google.com/presentation/d/1wgKADvWoVVYNIBRErC5j1LZDa0eLncgr1xCfW5-u-TY/edit#slide=id.p3"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2.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743" y="236842"/>
            <a:ext cx="4483735" cy="502284"/>
            <a:chOff x="87743" y="236842"/>
            <a:chExt cx="4483735" cy="502284"/>
          </a:xfrm>
        </p:grpSpPr>
        <p:sp>
          <p:nvSpPr>
            <p:cNvPr id="3" name="object 3"/>
            <p:cNvSpPr/>
            <p:nvPr/>
          </p:nvSpPr>
          <p:spPr>
            <a:xfrm>
              <a:off x="87743" y="236842"/>
              <a:ext cx="4432935" cy="82550"/>
            </a:xfrm>
            <a:custGeom>
              <a:avLst/>
              <a:gdLst/>
              <a:ahLst/>
              <a:cxnLst/>
              <a:rect l="l" t="t" r="r" b="b"/>
              <a:pathLst>
                <a:path w="4432935" h="8255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3333B2"/>
            </a:solidFill>
          </p:spPr>
          <p:txBody>
            <a:bodyPr wrap="square" lIns="0" tIns="0" rIns="0" bIns="0" rtlCol="0"/>
            <a:lstStyle/>
            <a:p>
              <a:endParaRPr/>
            </a:p>
          </p:txBody>
        </p:sp>
        <p:sp>
          <p:nvSpPr>
            <p:cNvPr id="4" name="object 4"/>
            <p:cNvSpPr/>
            <p:nvPr/>
          </p:nvSpPr>
          <p:spPr>
            <a:xfrm>
              <a:off x="138544" y="300105"/>
              <a:ext cx="4432935" cy="438784"/>
            </a:xfrm>
            <a:custGeom>
              <a:avLst/>
              <a:gdLst/>
              <a:ahLst/>
              <a:cxnLst/>
              <a:rect l="l" t="t" r="r" b="b"/>
              <a:pathLst>
                <a:path w="4432935" h="438784">
                  <a:moveTo>
                    <a:pt x="4432566" y="0"/>
                  </a:moveTo>
                  <a:lnTo>
                    <a:pt x="0" y="0"/>
                  </a:lnTo>
                  <a:lnTo>
                    <a:pt x="0" y="438781"/>
                  </a:lnTo>
                  <a:lnTo>
                    <a:pt x="4432566" y="438781"/>
                  </a:lnTo>
                  <a:lnTo>
                    <a:pt x="4432566" y="0"/>
                  </a:lnTo>
                  <a:close/>
                </a:path>
              </a:pathLst>
            </a:custGeom>
            <a:solidFill>
              <a:srgbClr val="000000"/>
            </a:solidFill>
          </p:spPr>
          <p:txBody>
            <a:bodyPr wrap="square" lIns="0" tIns="0" rIns="0" bIns="0" rtlCol="0"/>
            <a:lstStyle/>
            <a:p>
              <a:endParaRPr/>
            </a:p>
          </p:txBody>
        </p:sp>
        <p:sp>
          <p:nvSpPr>
            <p:cNvPr id="5" name="object 5"/>
            <p:cNvSpPr/>
            <p:nvPr/>
          </p:nvSpPr>
          <p:spPr>
            <a:xfrm>
              <a:off x="87743" y="281269"/>
              <a:ext cx="4432935" cy="407034"/>
            </a:xfrm>
            <a:custGeom>
              <a:avLst/>
              <a:gdLst/>
              <a:ahLst/>
              <a:cxnLst/>
              <a:rect l="l" t="t" r="r" b="b"/>
              <a:pathLst>
                <a:path w="4432935" h="407034">
                  <a:moveTo>
                    <a:pt x="4432566" y="0"/>
                  </a:moveTo>
                  <a:lnTo>
                    <a:pt x="0" y="0"/>
                  </a:lnTo>
                  <a:lnTo>
                    <a:pt x="0" y="356017"/>
                  </a:lnTo>
                  <a:lnTo>
                    <a:pt x="4008" y="375741"/>
                  </a:lnTo>
                  <a:lnTo>
                    <a:pt x="14922" y="391894"/>
                  </a:lnTo>
                  <a:lnTo>
                    <a:pt x="31075" y="402808"/>
                  </a:lnTo>
                  <a:lnTo>
                    <a:pt x="50800" y="406817"/>
                  </a:lnTo>
                  <a:lnTo>
                    <a:pt x="4381765" y="406817"/>
                  </a:lnTo>
                  <a:lnTo>
                    <a:pt x="4401490" y="402808"/>
                  </a:lnTo>
                  <a:lnTo>
                    <a:pt x="4417643" y="391894"/>
                  </a:lnTo>
                  <a:lnTo>
                    <a:pt x="4428558" y="375741"/>
                  </a:lnTo>
                  <a:lnTo>
                    <a:pt x="4432566" y="356017"/>
                  </a:lnTo>
                  <a:lnTo>
                    <a:pt x="4432566" y="0"/>
                  </a:lnTo>
                  <a:close/>
                </a:path>
              </a:pathLst>
            </a:custGeom>
            <a:solidFill>
              <a:srgbClr val="3333B2"/>
            </a:solidFill>
          </p:spPr>
          <p:txBody>
            <a:bodyPr wrap="square" lIns="0" tIns="0" rIns="0" bIns="0" rtlCol="0"/>
            <a:lstStyle/>
            <a:p>
              <a:endParaRPr dirty="0"/>
            </a:p>
          </p:txBody>
        </p:sp>
      </p:grpSp>
      <p:sp>
        <p:nvSpPr>
          <p:cNvPr id="6" name="object 6"/>
          <p:cNvSpPr txBox="1">
            <a:spLocks noGrp="1"/>
          </p:cNvSpPr>
          <p:nvPr>
            <p:ph type="title"/>
          </p:nvPr>
        </p:nvSpPr>
        <p:spPr>
          <a:xfrm>
            <a:off x="138545" y="300105"/>
            <a:ext cx="4333012" cy="400750"/>
          </a:xfrm>
          <a:prstGeom prst="rect">
            <a:avLst/>
          </a:prstGeom>
        </p:spPr>
        <p:txBody>
          <a:bodyPr vert="horz" wrap="square" lIns="0" tIns="61594" rIns="0" bIns="0" rtlCol="0">
            <a:spAutoFit/>
          </a:bodyPr>
          <a:lstStyle/>
          <a:p>
            <a:pPr marR="43180" algn="ctr">
              <a:lnSpc>
                <a:spcPct val="100000"/>
              </a:lnSpc>
              <a:spcBef>
                <a:spcPts val="484"/>
              </a:spcBef>
            </a:pPr>
            <a:r>
              <a:rPr lang="en-IN" sz="1100" dirty="0">
                <a:effectLst/>
                <a:latin typeface="Times New Roman" panose="02020603050405020304" pitchFamily="18" charset="0"/>
                <a:ea typeface="Calibri" panose="020F0502020204030204" pitchFamily="34" charset="0"/>
              </a:rPr>
              <a:t>Deep Learning-Based Object Detection and Tracking System for Automatic Accident Detection in Tunnel CCTV Surveillance</a:t>
            </a:r>
            <a:endParaRPr sz="1100" b="1" spc="-10" dirty="0"/>
          </a:p>
        </p:txBody>
      </p:sp>
      <p:sp>
        <p:nvSpPr>
          <p:cNvPr id="7" name="object 7"/>
          <p:cNvSpPr txBox="1"/>
          <p:nvPr/>
        </p:nvSpPr>
        <p:spPr>
          <a:xfrm>
            <a:off x="1333385" y="835913"/>
            <a:ext cx="2133600" cy="719428"/>
          </a:xfrm>
          <a:prstGeom prst="rect">
            <a:avLst/>
          </a:prstGeom>
        </p:spPr>
        <p:txBody>
          <a:bodyPr vert="horz" wrap="square" lIns="0" tIns="11430" rIns="0" bIns="0" rtlCol="0">
            <a:spAutoFit/>
          </a:bodyPr>
          <a:lstStyle/>
          <a:p>
            <a:pPr marR="168910" algn="ctr">
              <a:lnSpc>
                <a:spcPct val="100000"/>
              </a:lnSpc>
              <a:spcBef>
                <a:spcPts val="90"/>
              </a:spcBef>
            </a:pPr>
            <a:r>
              <a:rPr lang="en-IN" sz="1100" dirty="0">
                <a:latin typeface="Arial MT"/>
                <a:cs typeface="Arial MT"/>
              </a:rPr>
              <a:t>Om Savalaram Jangam</a:t>
            </a:r>
            <a:endParaRPr sz="1100" dirty="0">
              <a:latin typeface="Arial MT"/>
              <a:cs typeface="Arial MT"/>
            </a:endParaRPr>
          </a:p>
          <a:p>
            <a:pPr marL="12700">
              <a:lnSpc>
                <a:spcPct val="100000"/>
              </a:lnSpc>
              <a:spcBef>
                <a:spcPts val="35"/>
              </a:spcBef>
            </a:pPr>
            <a:r>
              <a:rPr lang="en-IN" sz="1100" dirty="0">
                <a:latin typeface="Arial MT"/>
                <a:cs typeface="Arial MT"/>
              </a:rPr>
              <a:t>    </a:t>
            </a:r>
            <a:r>
              <a:rPr sz="1100" dirty="0">
                <a:latin typeface="Arial MT"/>
                <a:cs typeface="Arial MT"/>
              </a:rPr>
              <a:t>Guide</a:t>
            </a:r>
            <a:r>
              <a:rPr lang="en-IN" sz="1100" dirty="0">
                <a:latin typeface="Arial MT"/>
                <a:cs typeface="Arial MT"/>
              </a:rPr>
              <a:t> </a:t>
            </a:r>
            <a:r>
              <a:rPr sz="1100" dirty="0">
                <a:latin typeface="Arial MT"/>
                <a:cs typeface="Arial MT"/>
              </a:rPr>
              <a:t>-</a:t>
            </a:r>
            <a:r>
              <a:rPr sz="1100" spc="-40" dirty="0">
                <a:latin typeface="Arial MT"/>
                <a:cs typeface="Arial MT"/>
              </a:rPr>
              <a:t> </a:t>
            </a:r>
            <a:r>
              <a:rPr lang="en-US" sz="1100" spc="-40" dirty="0">
                <a:latin typeface="Arial MT"/>
                <a:cs typeface="Arial MT"/>
              </a:rPr>
              <a:t>Ms. Ankita S. Bonde </a:t>
            </a:r>
            <a:endParaRPr lang="en-IN" sz="1100" dirty="0">
              <a:latin typeface="Arial MT"/>
              <a:cs typeface="Arial MT"/>
            </a:endParaRPr>
          </a:p>
          <a:p>
            <a:pPr>
              <a:lnSpc>
                <a:spcPct val="100000"/>
              </a:lnSpc>
              <a:spcBef>
                <a:spcPts val="580"/>
              </a:spcBef>
            </a:pPr>
            <a:endParaRPr lang="en-IN" sz="1100" dirty="0">
              <a:latin typeface="Arial MT"/>
              <a:cs typeface="Arial MT"/>
            </a:endParaRPr>
          </a:p>
          <a:p>
            <a:pPr marR="118110" algn="ctr">
              <a:lnSpc>
                <a:spcPct val="100000"/>
              </a:lnSpc>
            </a:pPr>
            <a:r>
              <a:rPr sz="800" spc="-10" dirty="0">
                <a:latin typeface="Arial MT"/>
                <a:cs typeface="Arial MT"/>
              </a:rPr>
              <a:t>Seminar</a:t>
            </a:r>
            <a:r>
              <a:rPr lang="en-IN" sz="800" spc="-10" dirty="0">
                <a:latin typeface="Arial MT"/>
                <a:cs typeface="Arial MT"/>
              </a:rPr>
              <a:t> </a:t>
            </a:r>
            <a:endParaRPr sz="800" dirty="0">
              <a:latin typeface="Arial MT"/>
              <a:cs typeface="Arial MT"/>
            </a:endParaRPr>
          </a:p>
        </p:txBody>
      </p:sp>
      <p:pic>
        <p:nvPicPr>
          <p:cNvPr id="8" name="object 8"/>
          <p:cNvPicPr/>
          <p:nvPr/>
        </p:nvPicPr>
        <p:blipFill>
          <a:blip r:embed="rId2" cstate="print"/>
          <a:stretch>
            <a:fillRect/>
          </a:stretch>
        </p:blipFill>
        <p:spPr>
          <a:xfrm>
            <a:off x="2045918" y="1601737"/>
            <a:ext cx="506730" cy="647700"/>
          </a:xfrm>
          <a:prstGeom prst="rect">
            <a:avLst/>
          </a:prstGeom>
        </p:spPr>
      </p:pic>
      <p:sp>
        <p:nvSpPr>
          <p:cNvPr id="9" name="object 9"/>
          <p:cNvSpPr txBox="1"/>
          <p:nvPr/>
        </p:nvSpPr>
        <p:spPr>
          <a:xfrm>
            <a:off x="1447482" y="2259900"/>
            <a:ext cx="1713230" cy="856004"/>
          </a:xfrm>
          <a:prstGeom prst="rect">
            <a:avLst/>
          </a:prstGeom>
        </p:spPr>
        <p:txBody>
          <a:bodyPr vert="horz" wrap="square" lIns="0" tIns="17145" rIns="0" bIns="0" rtlCol="0">
            <a:spAutoFit/>
          </a:bodyPr>
          <a:lstStyle/>
          <a:p>
            <a:pPr marL="12700" marR="5080" algn="ctr">
              <a:lnSpc>
                <a:spcPts val="950"/>
              </a:lnSpc>
              <a:spcBef>
                <a:spcPts val="135"/>
              </a:spcBef>
            </a:pPr>
            <a:r>
              <a:rPr sz="800" dirty="0">
                <a:latin typeface="Arial MT"/>
                <a:cs typeface="Arial MT"/>
              </a:rPr>
              <a:t>PES</a:t>
            </a:r>
            <a:r>
              <a:rPr sz="800" spc="-30" dirty="0">
                <a:latin typeface="Arial MT"/>
                <a:cs typeface="Arial MT"/>
              </a:rPr>
              <a:t> </a:t>
            </a:r>
            <a:r>
              <a:rPr sz="800" dirty="0">
                <a:latin typeface="Arial MT"/>
                <a:cs typeface="Arial MT"/>
              </a:rPr>
              <a:t>Modern</a:t>
            </a:r>
            <a:r>
              <a:rPr sz="800" spc="-25" dirty="0">
                <a:latin typeface="Arial MT"/>
                <a:cs typeface="Arial MT"/>
              </a:rPr>
              <a:t> </a:t>
            </a:r>
            <a:r>
              <a:rPr sz="800" dirty="0">
                <a:latin typeface="Arial MT"/>
                <a:cs typeface="Arial MT"/>
              </a:rPr>
              <a:t>College</a:t>
            </a:r>
            <a:r>
              <a:rPr sz="800" spc="-30" dirty="0">
                <a:latin typeface="Arial MT"/>
                <a:cs typeface="Arial MT"/>
              </a:rPr>
              <a:t> </a:t>
            </a:r>
            <a:r>
              <a:rPr sz="800" dirty="0">
                <a:latin typeface="Arial MT"/>
                <a:cs typeface="Arial MT"/>
              </a:rPr>
              <a:t>of</a:t>
            </a:r>
            <a:r>
              <a:rPr sz="800" spc="-25" dirty="0">
                <a:latin typeface="Arial MT"/>
                <a:cs typeface="Arial MT"/>
              </a:rPr>
              <a:t> </a:t>
            </a:r>
            <a:r>
              <a:rPr sz="800" spc="-10" dirty="0">
                <a:latin typeface="Arial MT"/>
                <a:cs typeface="Arial MT"/>
              </a:rPr>
              <a:t>Engineering </a:t>
            </a:r>
            <a:r>
              <a:rPr sz="800" dirty="0">
                <a:latin typeface="Arial MT"/>
                <a:cs typeface="Arial MT"/>
              </a:rPr>
              <a:t>Department</a:t>
            </a:r>
            <a:r>
              <a:rPr sz="800" spc="-30" dirty="0">
                <a:latin typeface="Arial MT"/>
                <a:cs typeface="Arial MT"/>
              </a:rPr>
              <a:t> </a:t>
            </a:r>
            <a:r>
              <a:rPr sz="800" dirty="0">
                <a:latin typeface="Arial MT"/>
                <a:cs typeface="Arial MT"/>
              </a:rPr>
              <a:t>of</a:t>
            </a:r>
            <a:r>
              <a:rPr sz="800" spc="-25" dirty="0">
                <a:latin typeface="Arial MT"/>
                <a:cs typeface="Arial MT"/>
              </a:rPr>
              <a:t> </a:t>
            </a:r>
            <a:r>
              <a:rPr sz="800" dirty="0">
                <a:latin typeface="Arial MT"/>
                <a:cs typeface="Arial MT"/>
              </a:rPr>
              <a:t>Computer</a:t>
            </a:r>
            <a:r>
              <a:rPr sz="800" spc="-25" dirty="0">
                <a:latin typeface="Arial MT"/>
                <a:cs typeface="Arial MT"/>
              </a:rPr>
              <a:t> </a:t>
            </a:r>
            <a:r>
              <a:rPr sz="800" spc="-10" dirty="0">
                <a:latin typeface="Arial MT"/>
                <a:cs typeface="Arial MT"/>
              </a:rPr>
              <a:t>Engineering Savitribai</a:t>
            </a:r>
            <a:r>
              <a:rPr sz="800" spc="-20" dirty="0">
                <a:latin typeface="Arial MT"/>
                <a:cs typeface="Arial MT"/>
              </a:rPr>
              <a:t> </a:t>
            </a:r>
            <a:r>
              <a:rPr sz="800" dirty="0">
                <a:latin typeface="Arial MT"/>
                <a:cs typeface="Arial MT"/>
              </a:rPr>
              <a:t>Phule</a:t>
            </a:r>
            <a:r>
              <a:rPr sz="800" spc="-15" dirty="0">
                <a:latin typeface="Arial MT"/>
                <a:cs typeface="Arial MT"/>
              </a:rPr>
              <a:t> </a:t>
            </a:r>
            <a:r>
              <a:rPr sz="800" dirty="0">
                <a:latin typeface="Arial MT"/>
                <a:cs typeface="Arial MT"/>
              </a:rPr>
              <a:t>Pune</a:t>
            </a:r>
            <a:r>
              <a:rPr sz="800" spc="-15" dirty="0">
                <a:latin typeface="Arial MT"/>
                <a:cs typeface="Arial MT"/>
              </a:rPr>
              <a:t> </a:t>
            </a:r>
            <a:r>
              <a:rPr sz="800" spc="-10" dirty="0">
                <a:latin typeface="Arial MT"/>
                <a:cs typeface="Arial MT"/>
              </a:rPr>
              <a:t>University</a:t>
            </a:r>
            <a:endParaRPr sz="800" dirty="0">
              <a:latin typeface="Arial MT"/>
              <a:cs typeface="Arial MT"/>
            </a:endParaRPr>
          </a:p>
          <a:p>
            <a:pPr>
              <a:lnSpc>
                <a:spcPct val="100000"/>
              </a:lnSpc>
            </a:pPr>
            <a:endParaRPr sz="800" dirty="0">
              <a:latin typeface="Arial MT"/>
              <a:cs typeface="Arial MT"/>
            </a:endParaRPr>
          </a:p>
          <a:p>
            <a:pPr>
              <a:lnSpc>
                <a:spcPct val="100000"/>
              </a:lnSpc>
              <a:spcBef>
                <a:spcPts val="330"/>
              </a:spcBef>
            </a:pPr>
            <a:endParaRPr sz="800" dirty="0">
              <a:latin typeface="Arial MT"/>
              <a:cs typeface="Arial MT"/>
            </a:endParaRPr>
          </a:p>
          <a:p>
            <a:pPr marL="38100" algn="ctr">
              <a:lnSpc>
                <a:spcPct val="100000"/>
              </a:lnSpc>
            </a:pPr>
            <a:r>
              <a:rPr lang="en-IN" sz="1100" spc="-10" dirty="0">
                <a:latin typeface="Arial MT"/>
                <a:cs typeface="Arial MT"/>
              </a:rPr>
              <a:t>12</a:t>
            </a:r>
            <a:r>
              <a:rPr sz="1100" spc="-10" dirty="0">
                <a:latin typeface="Arial MT"/>
                <a:cs typeface="Arial MT"/>
              </a:rPr>
              <a:t>-</a:t>
            </a:r>
            <a:r>
              <a:rPr lang="en-IN" sz="1100" dirty="0"/>
              <a:t>September</a:t>
            </a:r>
            <a:r>
              <a:rPr sz="1100" spc="-10" dirty="0">
                <a:latin typeface="Arial MT"/>
                <a:cs typeface="Arial MT"/>
              </a:rPr>
              <a:t>-</a:t>
            </a:r>
            <a:r>
              <a:rPr sz="1100" spc="-20" dirty="0">
                <a:latin typeface="Arial MT"/>
                <a:cs typeface="Arial MT"/>
              </a:rPr>
              <a:t>202</a:t>
            </a:r>
            <a:r>
              <a:rPr lang="en-US" sz="1100" spc="-20" dirty="0">
                <a:latin typeface="Arial MT"/>
                <a:cs typeface="Arial MT"/>
              </a:rPr>
              <a:t>5</a:t>
            </a:r>
            <a:endParaRPr sz="1100" dirty="0">
              <a:latin typeface="Arial MT"/>
              <a:cs typeface="Arial MT"/>
            </a:endParaRPr>
          </a:p>
        </p:txBody>
      </p:sp>
      <p:grpSp>
        <p:nvGrpSpPr>
          <p:cNvPr id="10" name="object 10"/>
          <p:cNvGrpSpPr/>
          <p:nvPr/>
        </p:nvGrpSpPr>
        <p:grpSpPr>
          <a:xfrm>
            <a:off x="0" y="3328394"/>
            <a:ext cx="4598566" cy="126303"/>
            <a:chOff x="0" y="3326968"/>
            <a:chExt cx="4608017" cy="129539"/>
          </a:xfrm>
        </p:grpSpPr>
        <p:sp>
          <p:nvSpPr>
            <p:cNvPr id="11" name="object 11"/>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2" name="object 12"/>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3" name="object 13"/>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5" name="object 15"/>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16" name="object 16"/>
          <p:cNvSpPr txBox="1">
            <a:spLocks noGrp="1"/>
          </p:cNvSpPr>
          <p:nvPr>
            <p:ph type="dt" sz="half" idx="6"/>
          </p:nvPr>
        </p:nvSpPr>
        <p:spPr>
          <a:xfrm>
            <a:off x="3432695" y="3331252"/>
            <a:ext cx="705077" cy="101310"/>
          </a:xfrm>
          <a:prstGeom prst="rect">
            <a:avLst/>
          </a:prstGeom>
        </p:spPr>
        <p:txBody>
          <a:bodyPr vert="horz" wrap="square" lIns="0" tIns="8890" rIns="0" bIns="0" rtlCol="0">
            <a:spAutoFit/>
          </a:bodyPr>
          <a:lstStyle/>
          <a:p>
            <a:pPr marL="12700">
              <a:lnSpc>
                <a:spcPct val="100000"/>
              </a:lnSpc>
              <a:spcBef>
                <a:spcPts val="70"/>
              </a:spcBef>
            </a:pPr>
            <a:r>
              <a:rPr lang="en-IN" spc="-10" dirty="0"/>
              <a:t>12-September</a:t>
            </a:r>
            <a:r>
              <a:rPr spc="-10" dirty="0"/>
              <a:t>-</a:t>
            </a:r>
            <a:r>
              <a:rPr spc="-20" dirty="0"/>
              <a:t>202</a:t>
            </a:r>
            <a:r>
              <a:rPr lang="en-US" spc="-20" dirty="0"/>
              <a:t>5</a:t>
            </a:r>
            <a:endParaRPr spc="-20" dirty="0"/>
          </a:p>
        </p:txBody>
      </p:sp>
      <p:sp>
        <p:nvSpPr>
          <p:cNvPr id="17" name="object 17"/>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a:t>
            </a:fld>
            <a:r>
              <a:rPr spc="-70" dirty="0"/>
              <a:t> </a:t>
            </a:r>
            <a:r>
              <a:rPr dirty="0"/>
              <a:t>/</a:t>
            </a:r>
            <a:r>
              <a:rPr spc="-65" dirty="0"/>
              <a:t> </a:t>
            </a:r>
            <a:r>
              <a:rPr spc="-25" dirty="0"/>
              <a:t>1</a:t>
            </a:r>
            <a:r>
              <a:rPr lang="en-IN" spc="-25" dirty="0"/>
              <a:t>1</a:t>
            </a:r>
            <a:endParaRPr spc="-2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Outline</a:t>
            </a:r>
          </a:p>
        </p:txBody>
      </p:sp>
      <p:pic>
        <p:nvPicPr>
          <p:cNvPr id="4" name="object 4"/>
          <p:cNvPicPr/>
          <p:nvPr/>
        </p:nvPicPr>
        <p:blipFill>
          <a:blip r:embed="rId2" cstate="print"/>
          <a:stretch>
            <a:fillRect/>
          </a:stretch>
        </p:blipFill>
        <p:spPr>
          <a:xfrm>
            <a:off x="89093" y="535326"/>
            <a:ext cx="188391" cy="188391"/>
          </a:xfrm>
          <a:prstGeom prst="rect">
            <a:avLst/>
          </a:prstGeom>
        </p:spPr>
      </p:pic>
      <p:sp>
        <p:nvSpPr>
          <p:cNvPr id="5" name="object 5"/>
          <p:cNvSpPr txBox="1"/>
          <p:nvPr/>
        </p:nvSpPr>
        <p:spPr>
          <a:xfrm>
            <a:off x="133818" y="550071"/>
            <a:ext cx="8191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1</a:t>
            </a:r>
            <a:endParaRPr sz="800" dirty="0">
              <a:latin typeface="Arial MT"/>
              <a:cs typeface="Arial MT"/>
            </a:endParaRPr>
          </a:p>
        </p:txBody>
      </p:sp>
      <p:pic>
        <p:nvPicPr>
          <p:cNvPr id="7" name="object 7"/>
          <p:cNvPicPr/>
          <p:nvPr/>
        </p:nvPicPr>
        <p:blipFill>
          <a:blip r:embed="rId3" cstate="print"/>
          <a:stretch>
            <a:fillRect/>
          </a:stretch>
        </p:blipFill>
        <p:spPr>
          <a:xfrm>
            <a:off x="80581" y="729284"/>
            <a:ext cx="188391" cy="188391"/>
          </a:xfrm>
          <a:prstGeom prst="rect">
            <a:avLst/>
          </a:prstGeom>
        </p:spPr>
      </p:pic>
      <p:sp>
        <p:nvSpPr>
          <p:cNvPr id="8" name="object 8"/>
          <p:cNvSpPr txBox="1"/>
          <p:nvPr/>
        </p:nvSpPr>
        <p:spPr>
          <a:xfrm>
            <a:off x="133934" y="745222"/>
            <a:ext cx="8191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2</a:t>
            </a:r>
            <a:endParaRPr sz="800">
              <a:latin typeface="Arial MT"/>
              <a:cs typeface="Arial MT"/>
            </a:endParaRPr>
          </a:p>
        </p:txBody>
      </p:sp>
      <p:pic>
        <p:nvPicPr>
          <p:cNvPr id="9" name="object 9"/>
          <p:cNvPicPr/>
          <p:nvPr/>
        </p:nvPicPr>
        <p:blipFill>
          <a:blip r:embed="rId4" cstate="print"/>
          <a:stretch>
            <a:fillRect/>
          </a:stretch>
        </p:blipFill>
        <p:spPr>
          <a:xfrm>
            <a:off x="80581" y="982433"/>
            <a:ext cx="188391" cy="188391"/>
          </a:xfrm>
          <a:prstGeom prst="rect">
            <a:avLst/>
          </a:prstGeom>
        </p:spPr>
      </p:pic>
      <p:sp>
        <p:nvSpPr>
          <p:cNvPr id="10" name="object 10"/>
          <p:cNvSpPr txBox="1"/>
          <p:nvPr/>
        </p:nvSpPr>
        <p:spPr>
          <a:xfrm>
            <a:off x="133934" y="997520"/>
            <a:ext cx="8191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3</a:t>
            </a:r>
            <a:endParaRPr sz="800">
              <a:latin typeface="Arial MT"/>
              <a:cs typeface="Arial MT"/>
            </a:endParaRPr>
          </a:p>
        </p:txBody>
      </p:sp>
      <p:pic>
        <p:nvPicPr>
          <p:cNvPr id="11" name="object 11"/>
          <p:cNvPicPr/>
          <p:nvPr/>
        </p:nvPicPr>
        <p:blipFill>
          <a:blip r:embed="rId5" cstate="print"/>
          <a:stretch>
            <a:fillRect/>
          </a:stretch>
        </p:blipFill>
        <p:spPr>
          <a:xfrm>
            <a:off x="80581" y="1235570"/>
            <a:ext cx="188391" cy="188391"/>
          </a:xfrm>
          <a:prstGeom prst="rect">
            <a:avLst/>
          </a:prstGeom>
        </p:spPr>
      </p:pic>
      <p:sp>
        <p:nvSpPr>
          <p:cNvPr id="12" name="object 12"/>
          <p:cNvSpPr txBox="1"/>
          <p:nvPr/>
        </p:nvSpPr>
        <p:spPr>
          <a:xfrm>
            <a:off x="133934" y="1251494"/>
            <a:ext cx="8191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4</a:t>
            </a:r>
            <a:endParaRPr sz="800">
              <a:latin typeface="Arial MT"/>
              <a:cs typeface="Arial MT"/>
            </a:endParaRPr>
          </a:p>
        </p:txBody>
      </p:sp>
      <p:pic>
        <p:nvPicPr>
          <p:cNvPr id="13" name="object 13"/>
          <p:cNvPicPr/>
          <p:nvPr/>
        </p:nvPicPr>
        <p:blipFill>
          <a:blip r:embed="rId6" cstate="print"/>
          <a:stretch>
            <a:fillRect/>
          </a:stretch>
        </p:blipFill>
        <p:spPr>
          <a:xfrm>
            <a:off x="80581" y="1488706"/>
            <a:ext cx="188391" cy="188391"/>
          </a:xfrm>
          <a:prstGeom prst="rect">
            <a:avLst/>
          </a:prstGeom>
        </p:spPr>
      </p:pic>
      <p:sp>
        <p:nvSpPr>
          <p:cNvPr id="14" name="object 14"/>
          <p:cNvSpPr txBox="1"/>
          <p:nvPr/>
        </p:nvSpPr>
        <p:spPr>
          <a:xfrm>
            <a:off x="133934" y="1502865"/>
            <a:ext cx="8191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5</a:t>
            </a:r>
            <a:endParaRPr sz="800" dirty="0">
              <a:latin typeface="Arial MT"/>
              <a:cs typeface="Arial MT"/>
            </a:endParaRPr>
          </a:p>
        </p:txBody>
      </p:sp>
      <p:sp>
        <p:nvSpPr>
          <p:cNvPr id="16" name="object 16"/>
          <p:cNvSpPr txBox="1"/>
          <p:nvPr/>
        </p:nvSpPr>
        <p:spPr>
          <a:xfrm>
            <a:off x="133934" y="1756942"/>
            <a:ext cx="8191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6</a:t>
            </a:r>
            <a:endParaRPr sz="800" dirty="0">
              <a:latin typeface="Arial MT"/>
              <a:cs typeface="Arial MT"/>
            </a:endParaRPr>
          </a:p>
        </p:txBody>
      </p:sp>
      <p:sp>
        <p:nvSpPr>
          <p:cNvPr id="18" name="object 18"/>
          <p:cNvSpPr txBox="1"/>
          <p:nvPr/>
        </p:nvSpPr>
        <p:spPr>
          <a:xfrm>
            <a:off x="340029" y="2627099"/>
            <a:ext cx="8191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7</a:t>
            </a:r>
            <a:endParaRPr sz="800">
              <a:latin typeface="Arial MT"/>
              <a:cs typeface="Arial MT"/>
            </a:endParaRPr>
          </a:p>
        </p:txBody>
      </p:sp>
      <p:sp>
        <p:nvSpPr>
          <p:cNvPr id="22" name="object 22"/>
          <p:cNvSpPr txBox="1"/>
          <p:nvPr/>
        </p:nvSpPr>
        <p:spPr>
          <a:xfrm>
            <a:off x="133934" y="2516364"/>
            <a:ext cx="8191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9</a:t>
            </a:r>
            <a:endParaRPr sz="800">
              <a:latin typeface="Arial MT"/>
              <a:cs typeface="Arial MT"/>
            </a:endParaRPr>
          </a:p>
        </p:txBody>
      </p:sp>
      <p:sp>
        <p:nvSpPr>
          <p:cNvPr id="29" name="object 2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30" name="object 30"/>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31" name="object 31"/>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grpSp>
        <p:nvGrpSpPr>
          <p:cNvPr id="41" name="object 10">
            <a:extLst>
              <a:ext uri="{FF2B5EF4-FFF2-40B4-BE49-F238E27FC236}">
                <a16:creationId xmlns:a16="http://schemas.microsoft.com/office/drawing/2014/main" id="{D42213A9-31FF-E72E-811F-39B467FE364F}"/>
              </a:ext>
            </a:extLst>
          </p:cNvPr>
          <p:cNvGrpSpPr/>
          <p:nvPr/>
        </p:nvGrpSpPr>
        <p:grpSpPr>
          <a:xfrm>
            <a:off x="0" y="3328394"/>
            <a:ext cx="4598566" cy="126303"/>
            <a:chOff x="0" y="3326968"/>
            <a:chExt cx="4608017" cy="129539"/>
          </a:xfrm>
        </p:grpSpPr>
        <p:sp>
          <p:nvSpPr>
            <p:cNvPr id="42" name="object 11">
              <a:extLst>
                <a:ext uri="{FF2B5EF4-FFF2-40B4-BE49-F238E27FC236}">
                  <a16:creationId xmlns:a16="http://schemas.microsoft.com/office/drawing/2014/main" id="{9B535EE6-574E-8055-E03E-95E1AB276370}"/>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43" name="object 12">
              <a:extLst>
                <a:ext uri="{FF2B5EF4-FFF2-40B4-BE49-F238E27FC236}">
                  <a16:creationId xmlns:a16="http://schemas.microsoft.com/office/drawing/2014/main" id="{1E5F7177-4700-A72F-B04B-28084A4F5333}"/>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44" name="object 13">
              <a:extLst>
                <a:ext uri="{FF2B5EF4-FFF2-40B4-BE49-F238E27FC236}">
                  <a16:creationId xmlns:a16="http://schemas.microsoft.com/office/drawing/2014/main" id="{1AABC59D-605D-21A5-E034-B85F927ECAC4}"/>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45" name="object 14">
            <a:extLst>
              <a:ext uri="{FF2B5EF4-FFF2-40B4-BE49-F238E27FC236}">
                <a16:creationId xmlns:a16="http://schemas.microsoft.com/office/drawing/2014/main" id="{419EC215-4D53-1294-60A9-5C5ED37194A1}"/>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46" name="object 15">
            <a:extLst>
              <a:ext uri="{FF2B5EF4-FFF2-40B4-BE49-F238E27FC236}">
                <a16:creationId xmlns:a16="http://schemas.microsoft.com/office/drawing/2014/main" id="{9CE97EAF-CAA6-2130-0524-7DBC8E0F0CE5}"/>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47" name="object 16">
            <a:extLst>
              <a:ext uri="{FF2B5EF4-FFF2-40B4-BE49-F238E27FC236}">
                <a16:creationId xmlns:a16="http://schemas.microsoft.com/office/drawing/2014/main" id="{53F158C8-2570-621C-27C5-B5DB516C923A}"/>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48" name="object 17">
            <a:extLst>
              <a:ext uri="{FF2B5EF4-FFF2-40B4-BE49-F238E27FC236}">
                <a16:creationId xmlns:a16="http://schemas.microsoft.com/office/drawing/2014/main" id="{41F37158-CBC3-18EB-960C-53F12E5E17F6}"/>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a:t>
            </a:fld>
            <a:r>
              <a:rPr spc="-70" dirty="0"/>
              <a:t> </a:t>
            </a:r>
            <a:r>
              <a:rPr dirty="0"/>
              <a:t>/</a:t>
            </a:r>
            <a:r>
              <a:rPr spc="-65" dirty="0"/>
              <a:t> </a:t>
            </a:r>
            <a:r>
              <a:rPr spc="-25" dirty="0"/>
              <a:t>1</a:t>
            </a:r>
            <a:r>
              <a:rPr lang="en-IN" spc="-25" dirty="0"/>
              <a:t>1</a:t>
            </a:r>
            <a:endParaRPr spc="-25" dirty="0"/>
          </a:p>
        </p:txBody>
      </p:sp>
      <p:pic>
        <p:nvPicPr>
          <p:cNvPr id="15" name="object 13">
            <a:extLst>
              <a:ext uri="{FF2B5EF4-FFF2-40B4-BE49-F238E27FC236}">
                <a16:creationId xmlns:a16="http://schemas.microsoft.com/office/drawing/2014/main" id="{840A88AF-9B2B-E8B9-F4D8-49DBBB66D8E3}"/>
              </a:ext>
            </a:extLst>
          </p:cNvPr>
          <p:cNvPicPr/>
          <p:nvPr/>
        </p:nvPicPr>
        <p:blipFill>
          <a:blip r:embed="rId6" cstate="print"/>
          <a:stretch>
            <a:fillRect/>
          </a:stretch>
        </p:blipFill>
        <p:spPr>
          <a:xfrm>
            <a:off x="95300" y="1784839"/>
            <a:ext cx="188391" cy="188391"/>
          </a:xfrm>
          <a:prstGeom prst="rect">
            <a:avLst/>
          </a:prstGeom>
        </p:spPr>
      </p:pic>
      <p:sp>
        <p:nvSpPr>
          <p:cNvPr id="17" name="object 14">
            <a:extLst>
              <a:ext uri="{FF2B5EF4-FFF2-40B4-BE49-F238E27FC236}">
                <a16:creationId xmlns:a16="http://schemas.microsoft.com/office/drawing/2014/main" id="{D4A6EA14-F2DF-EB17-E0E7-B48F32889F85}"/>
              </a:ext>
            </a:extLst>
          </p:cNvPr>
          <p:cNvSpPr txBox="1"/>
          <p:nvPr/>
        </p:nvSpPr>
        <p:spPr>
          <a:xfrm>
            <a:off x="150633" y="1814338"/>
            <a:ext cx="133058" cy="135293"/>
          </a:xfrm>
          <a:prstGeom prst="rect">
            <a:avLst/>
          </a:prstGeom>
        </p:spPr>
        <p:txBody>
          <a:bodyPr vert="horz" wrap="square" lIns="0" tIns="12065" rIns="0" bIns="0" rtlCol="0">
            <a:spAutoFit/>
          </a:bodyPr>
          <a:lstStyle/>
          <a:p>
            <a:pPr marL="12700">
              <a:lnSpc>
                <a:spcPct val="100000"/>
              </a:lnSpc>
              <a:spcBef>
                <a:spcPts val="95"/>
              </a:spcBef>
            </a:pPr>
            <a:r>
              <a:rPr lang="en-IN" sz="800" spc="-50" dirty="0">
                <a:solidFill>
                  <a:srgbClr val="EAEAF7"/>
                </a:solidFill>
                <a:latin typeface="Arial MT"/>
                <a:cs typeface="Arial MT"/>
              </a:rPr>
              <a:t>6</a:t>
            </a:r>
            <a:endParaRPr sz="800" dirty="0">
              <a:latin typeface="Arial MT"/>
              <a:cs typeface="Arial MT"/>
            </a:endParaRPr>
          </a:p>
        </p:txBody>
      </p:sp>
      <p:sp>
        <p:nvSpPr>
          <p:cNvPr id="23" name="TextBox 22">
            <a:extLst>
              <a:ext uri="{FF2B5EF4-FFF2-40B4-BE49-F238E27FC236}">
                <a16:creationId xmlns:a16="http://schemas.microsoft.com/office/drawing/2014/main" id="{C3FEE0F9-F5A6-D1DD-893D-562A40A76945}"/>
              </a:ext>
            </a:extLst>
          </p:cNvPr>
          <p:cNvSpPr txBox="1"/>
          <p:nvPr/>
        </p:nvSpPr>
        <p:spPr>
          <a:xfrm>
            <a:off x="260032" y="434975"/>
            <a:ext cx="2625244" cy="2854051"/>
          </a:xfrm>
          <a:prstGeom prst="rect">
            <a:avLst/>
          </a:prstGeom>
          <a:noFill/>
        </p:spPr>
        <p:txBody>
          <a:bodyPr wrap="square">
            <a:spAutoFit/>
          </a:bodyPr>
          <a:lstStyle/>
          <a:p>
            <a:pPr marL="184150" marR="331470" indent="-171450" rtl="0">
              <a:lnSpc>
                <a:spcPct val="150000"/>
              </a:lnSpc>
              <a:spcBef>
                <a:spcPts val="0"/>
              </a:spcBef>
              <a:spcAft>
                <a:spcPts val="0"/>
              </a:spcAft>
              <a:buFont typeface="Arial" panose="020B0604020202020204" pitchFamily="34" charset="0"/>
              <a:buChar char="•"/>
            </a:pPr>
            <a:r>
              <a:rPr lang="en-US" sz="1100" b="0" i="0" u="sng" strike="noStrike" dirty="0">
                <a:solidFill>
                  <a:srgbClr val="0000FF"/>
                </a:solidFill>
                <a:effectLst/>
                <a:latin typeface="Arial" panose="020B0604020202020204" pitchFamily="34" charset="0"/>
                <a:hlinkClick r:id="rId7"/>
              </a:rPr>
              <a:t>Introduction</a:t>
            </a:r>
            <a:endParaRPr lang="en-US" sz="1100" b="0" i="0" u="sng" strike="noStrike" dirty="0">
              <a:solidFill>
                <a:srgbClr val="0000FF"/>
              </a:solidFill>
              <a:effectLst/>
              <a:latin typeface="Arial" panose="020B0604020202020204" pitchFamily="34" charset="0"/>
            </a:endParaRPr>
          </a:p>
          <a:p>
            <a:pPr marL="184150" marR="331470" indent="-171450" rtl="0">
              <a:lnSpc>
                <a:spcPct val="150000"/>
              </a:lnSpc>
              <a:buFont typeface="Arial" panose="020B0604020202020204" pitchFamily="34" charset="0"/>
              <a:buChar char="•"/>
            </a:pPr>
            <a:r>
              <a:rPr lang="en-US" sz="1100" b="0" i="0" u="sng" strike="noStrike" dirty="0">
                <a:solidFill>
                  <a:srgbClr val="0000FF"/>
                </a:solidFill>
                <a:effectLst/>
                <a:latin typeface="Arial" panose="020B0604020202020204" pitchFamily="34" charset="0"/>
                <a:hlinkClick r:id="rId7"/>
              </a:rPr>
              <a:t>Literature survey</a:t>
            </a:r>
            <a:endParaRPr lang="en-US" sz="1100" b="0" i="0" u="sng" strike="noStrike" dirty="0">
              <a:solidFill>
                <a:srgbClr val="0000FF"/>
              </a:solidFill>
              <a:effectLst/>
              <a:latin typeface="Arial" panose="020B0604020202020204" pitchFamily="34" charset="0"/>
            </a:endParaRPr>
          </a:p>
          <a:p>
            <a:pPr marL="184150" marR="331470" indent="-171450" rtl="0">
              <a:lnSpc>
                <a:spcPct val="150000"/>
              </a:lnSpc>
              <a:buFont typeface="Arial" panose="020B0604020202020204" pitchFamily="34" charset="0"/>
              <a:buChar char="•"/>
            </a:pPr>
            <a:r>
              <a:rPr lang="en-US" sz="1100" b="0" i="0" u="sng" strike="noStrike" dirty="0">
                <a:solidFill>
                  <a:srgbClr val="0000FF"/>
                </a:solidFill>
                <a:effectLst/>
                <a:latin typeface="Arial" panose="020B0604020202020204" pitchFamily="34" charset="0"/>
                <a:hlinkClick r:id="rId7"/>
              </a:rPr>
              <a:t>Objectives and Scope</a:t>
            </a:r>
            <a:endParaRPr lang="en-US" sz="1100" b="0" i="0" u="sng" strike="noStrike" dirty="0">
              <a:solidFill>
                <a:srgbClr val="0000FF"/>
              </a:solidFill>
              <a:effectLst/>
              <a:latin typeface="Arial" panose="020B0604020202020204" pitchFamily="34" charset="0"/>
            </a:endParaRPr>
          </a:p>
          <a:p>
            <a:pPr marL="184150" marR="331470" indent="-171450" rtl="0">
              <a:lnSpc>
                <a:spcPct val="150000"/>
              </a:lnSpc>
              <a:buFont typeface="Arial" panose="020B0604020202020204" pitchFamily="34" charset="0"/>
              <a:buChar char="•"/>
            </a:pPr>
            <a:r>
              <a:rPr lang="en-US" sz="1100" b="0" i="0" u="sng" strike="noStrike" dirty="0">
                <a:solidFill>
                  <a:srgbClr val="0000FF"/>
                </a:solidFill>
                <a:effectLst/>
                <a:latin typeface="Arial" panose="020B0604020202020204" pitchFamily="34" charset="0"/>
                <a:hlinkClick r:id="rId7"/>
              </a:rPr>
              <a:t>Problem Statement</a:t>
            </a:r>
            <a:endParaRPr lang="en-US" sz="1100" b="0" i="0" u="sng" strike="noStrike" dirty="0">
              <a:solidFill>
                <a:srgbClr val="0000FF"/>
              </a:solidFill>
              <a:effectLst/>
              <a:latin typeface="Arial" panose="020B0604020202020204" pitchFamily="34" charset="0"/>
            </a:endParaRPr>
          </a:p>
          <a:p>
            <a:pPr marL="184150" marR="331470" indent="-171450" rtl="0">
              <a:lnSpc>
                <a:spcPct val="150000"/>
              </a:lnSpc>
              <a:buFont typeface="Arial" panose="020B0604020202020204" pitchFamily="34" charset="0"/>
              <a:buChar char="•"/>
            </a:pPr>
            <a:r>
              <a:rPr lang="en-US" sz="1100" b="0" i="0" u="sng" strike="noStrike" dirty="0">
                <a:solidFill>
                  <a:srgbClr val="0000FF"/>
                </a:solidFill>
                <a:effectLst/>
                <a:latin typeface="Arial" panose="020B0604020202020204" pitchFamily="34" charset="0"/>
                <a:hlinkClick r:id="rId7"/>
              </a:rPr>
              <a:t>ArchitecturalDiagram</a:t>
            </a:r>
            <a:endParaRPr lang="en-US" sz="1100" b="0" i="0" u="sng" strike="noStrike" dirty="0">
              <a:solidFill>
                <a:srgbClr val="0000FF"/>
              </a:solidFill>
              <a:effectLst/>
              <a:latin typeface="Arial" panose="020B0604020202020204" pitchFamily="34" charset="0"/>
            </a:endParaRPr>
          </a:p>
          <a:p>
            <a:pPr marL="184150" marR="331470" indent="-171450" rtl="0">
              <a:lnSpc>
                <a:spcPct val="150000"/>
              </a:lnSpc>
              <a:buFont typeface="Arial" panose="020B0604020202020204" pitchFamily="34" charset="0"/>
              <a:buChar char="•"/>
            </a:pPr>
            <a:r>
              <a:rPr lang="en-US" sz="1100" b="0" i="0" u="sng" strike="noStrike" dirty="0">
                <a:solidFill>
                  <a:srgbClr val="0000FF"/>
                </a:solidFill>
                <a:effectLst/>
                <a:latin typeface="Arial" panose="020B0604020202020204" pitchFamily="34" charset="0"/>
                <a:hlinkClick r:id="rId7"/>
              </a:rPr>
              <a:t>Algorithmic Approach</a:t>
            </a:r>
            <a:r>
              <a:rPr lang="en-US" sz="1100" b="0" i="0" u="none" strike="noStrike" dirty="0">
                <a:solidFill>
                  <a:srgbClr val="3333B2"/>
                </a:solidFill>
                <a:effectLst/>
                <a:latin typeface="Arial" panose="020B0604020202020204" pitchFamily="34" charset="0"/>
              </a:rPr>
              <a:t> </a:t>
            </a:r>
          </a:p>
          <a:p>
            <a:pPr marL="184150" marR="331470" indent="-171450" rtl="0">
              <a:lnSpc>
                <a:spcPct val="150000"/>
              </a:lnSpc>
              <a:buFont typeface="Arial" panose="020B0604020202020204" pitchFamily="34" charset="0"/>
              <a:buChar char="•"/>
            </a:pPr>
            <a:r>
              <a:rPr lang="en-US" sz="1100" b="0" i="0" u="none" strike="noStrike" dirty="0">
                <a:solidFill>
                  <a:srgbClr val="3333B2"/>
                </a:solidFill>
                <a:effectLst/>
                <a:latin typeface="Arial" panose="020B0604020202020204" pitchFamily="34" charset="0"/>
              </a:rPr>
              <a:t> </a:t>
            </a:r>
            <a:r>
              <a:rPr lang="en-US" sz="1100" b="0" i="0" u="sng" strike="noStrike" dirty="0">
                <a:solidFill>
                  <a:srgbClr val="0000FF"/>
                </a:solidFill>
                <a:effectLst/>
                <a:latin typeface="Arial" panose="020B0604020202020204" pitchFamily="34" charset="0"/>
                <a:hlinkClick r:id="rId7"/>
              </a:rPr>
              <a:t>Input / Data sets</a:t>
            </a:r>
            <a:endParaRPr lang="en-US" sz="1100" b="0" i="0" u="sng" strike="noStrike" dirty="0">
              <a:solidFill>
                <a:srgbClr val="0000FF"/>
              </a:solidFill>
              <a:effectLst/>
              <a:latin typeface="Arial" panose="020B0604020202020204" pitchFamily="34" charset="0"/>
            </a:endParaRPr>
          </a:p>
          <a:p>
            <a:pPr marL="184150" marR="331470" indent="-171450" rtl="0">
              <a:lnSpc>
                <a:spcPct val="150000"/>
              </a:lnSpc>
              <a:buFont typeface="Arial" panose="020B0604020202020204" pitchFamily="34" charset="0"/>
              <a:buChar char="•"/>
            </a:pPr>
            <a:r>
              <a:rPr lang="en-US" sz="1100" b="0" i="0" u="sng" strike="noStrike" dirty="0">
                <a:solidFill>
                  <a:srgbClr val="0000FF"/>
                </a:solidFill>
                <a:effectLst/>
                <a:latin typeface="Arial" panose="020B0604020202020204" pitchFamily="34" charset="0"/>
                <a:hlinkClick r:id="rId7"/>
              </a:rPr>
              <a:t>Results/Experimental Work</a:t>
            </a:r>
            <a:r>
              <a:rPr lang="en-US" sz="1100" b="0" i="0" u="none" strike="noStrike" dirty="0">
                <a:solidFill>
                  <a:srgbClr val="3333B2"/>
                </a:solidFill>
                <a:effectLst/>
                <a:latin typeface="Arial" panose="020B0604020202020204" pitchFamily="34" charset="0"/>
              </a:rPr>
              <a:t> </a:t>
            </a:r>
            <a:r>
              <a:rPr lang="en-US" sz="1100" b="0" i="0" u="sng" strike="noStrike" dirty="0">
                <a:solidFill>
                  <a:srgbClr val="0000FF"/>
                </a:solidFill>
                <a:effectLst/>
                <a:latin typeface="Arial" panose="020B0604020202020204" pitchFamily="34" charset="0"/>
                <a:hlinkClick r:id="rId7"/>
              </a:rPr>
              <a:t>Conclusion / Summary</a:t>
            </a:r>
            <a:endParaRPr lang="en-US" sz="1100" b="0" i="0" u="sng" strike="noStrike" dirty="0">
              <a:solidFill>
                <a:srgbClr val="0000FF"/>
              </a:solidFill>
              <a:effectLst/>
              <a:latin typeface="Arial" panose="020B0604020202020204" pitchFamily="34" charset="0"/>
            </a:endParaRPr>
          </a:p>
          <a:p>
            <a:pPr marL="184150" marR="331470" indent="-171450" rtl="0">
              <a:lnSpc>
                <a:spcPct val="150000"/>
              </a:lnSpc>
              <a:buFont typeface="Arial" panose="020B0604020202020204" pitchFamily="34" charset="0"/>
              <a:buChar char="•"/>
            </a:pPr>
            <a:r>
              <a:rPr lang="en-US" sz="1100" b="0" i="0" u="none" strike="noStrike" dirty="0">
                <a:solidFill>
                  <a:srgbClr val="3333B2"/>
                </a:solidFill>
                <a:effectLst/>
                <a:latin typeface="Arial" panose="020B0604020202020204" pitchFamily="34" charset="0"/>
              </a:rPr>
              <a:t> </a:t>
            </a:r>
            <a:r>
              <a:rPr lang="en-US" sz="1100" b="0" i="0" u="sng" strike="noStrike" dirty="0">
                <a:solidFill>
                  <a:srgbClr val="0000FF"/>
                </a:solidFill>
                <a:effectLst/>
                <a:latin typeface="Arial" panose="020B0604020202020204" pitchFamily="34" charset="0"/>
                <a:hlinkClick r:id="rId7"/>
              </a:rPr>
              <a:t>References</a:t>
            </a:r>
            <a:br>
              <a:rPr lang="en-US" sz="1100" dirty="0"/>
            </a:br>
            <a:endParaRPr lang="en-IN" sz="1100" dirty="0"/>
          </a:p>
        </p:txBody>
      </p:sp>
      <p:pic>
        <p:nvPicPr>
          <p:cNvPr id="19" name="Picture 18">
            <a:extLst>
              <a:ext uri="{FF2B5EF4-FFF2-40B4-BE49-F238E27FC236}">
                <a16:creationId xmlns:a16="http://schemas.microsoft.com/office/drawing/2014/main" id="{D8700CBE-8263-5CC8-05DA-D3572CA466F9}"/>
              </a:ext>
            </a:extLst>
          </p:cNvPr>
          <p:cNvPicPr>
            <a:picLocks noChangeAspect="1"/>
          </p:cNvPicPr>
          <p:nvPr/>
        </p:nvPicPr>
        <p:blipFill>
          <a:blip r:embed="rId8"/>
          <a:stretch>
            <a:fillRect/>
          </a:stretch>
        </p:blipFill>
        <p:spPr>
          <a:xfrm>
            <a:off x="95300" y="2305712"/>
            <a:ext cx="188992" cy="188992"/>
          </a:xfrm>
          <a:prstGeom prst="rect">
            <a:avLst/>
          </a:prstGeom>
        </p:spPr>
      </p:pic>
      <p:pic>
        <p:nvPicPr>
          <p:cNvPr id="20" name="object 13">
            <a:extLst>
              <a:ext uri="{FF2B5EF4-FFF2-40B4-BE49-F238E27FC236}">
                <a16:creationId xmlns:a16="http://schemas.microsoft.com/office/drawing/2014/main" id="{47D4A5A5-D953-D44C-92D2-C846A9CC378D}"/>
              </a:ext>
            </a:extLst>
          </p:cNvPr>
          <p:cNvPicPr/>
          <p:nvPr/>
        </p:nvPicPr>
        <p:blipFill>
          <a:blip r:embed="rId6" cstate="print"/>
          <a:stretch>
            <a:fillRect/>
          </a:stretch>
        </p:blipFill>
        <p:spPr>
          <a:xfrm>
            <a:off x="89093" y="2062673"/>
            <a:ext cx="188391" cy="188391"/>
          </a:xfrm>
          <a:prstGeom prst="rect">
            <a:avLst/>
          </a:prstGeom>
        </p:spPr>
      </p:pic>
      <p:sp>
        <p:nvSpPr>
          <p:cNvPr id="21" name="object 14">
            <a:extLst>
              <a:ext uri="{FF2B5EF4-FFF2-40B4-BE49-F238E27FC236}">
                <a16:creationId xmlns:a16="http://schemas.microsoft.com/office/drawing/2014/main" id="{3DBCE108-4F74-0D57-3294-3F7FA449A04F}"/>
              </a:ext>
            </a:extLst>
          </p:cNvPr>
          <p:cNvSpPr txBox="1"/>
          <p:nvPr/>
        </p:nvSpPr>
        <p:spPr>
          <a:xfrm>
            <a:off x="156025" y="2080972"/>
            <a:ext cx="81915" cy="135293"/>
          </a:xfrm>
          <a:prstGeom prst="rect">
            <a:avLst/>
          </a:prstGeom>
        </p:spPr>
        <p:txBody>
          <a:bodyPr vert="horz" wrap="square" lIns="0" tIns="12065" rIns="0" bIns="0" rtlCol="0">
            <a:spAutoFit/>
          </a:bodyPr>
          <a:lstStyle/>
          <a:p>
            <a:pPr marL="12700">
              <a:lnSpc>
                <a:spcPct val="100000"/>
              </a:lnSpc>
              <a:spcBef>
                <a:spcPts val="95"/>
              </a:spcBef>
            </a:pPr>
            <a:r>
              <a:rPr lang="en-IN" sz="800" spc="-50" dirty="0">
                <a:solidFill>
                  <a:srgbClr val="EAEAF7"/>
                </a:solidFill>
                <a:latin typeface="Arial MT"/>
                <a:cs typeface="Arial MT"/>
              </a:rPr>
              <a:t>7</a:t>
            </a:r>
            <a:endParaRPr sz="800" dirty="0">
              <a:latin typeface="Arial MT"/>
              <a:cs typeface="Arial MT"/>
            </a:endParaRPr>
          </a:p>
        </p:txBody>
      </p:sp>
      <p:sp>
        <p:nvSpPr>
          <p:cNvPr id="24" name="object 14">
            <a:extLst>
              <a:ext uri="{FF2B5EF4-FFF2-40B4-BE49-F238E27FC236}">
                <a16:creationId xmlns:a16="http://schemas.microsoft.com/office/drawing/2014/main" id="{01CED483-8C00-B59F-6710-7B3506A7FDD6}"/>
              </a:ext>
            </a:extLst>
          </p:cNvPr>
          <p:cNvSpPr txBox="1"/>
          <p:nvPr/>
        </p:nvSpPr>
        <p:spPr>
          <a:xfrm>
            <a:off x="144863" y="2314895"/>
            <a:ext cx="81915" cy="135293"/>
          </a:xfrm>
          <a:prstGeom prst="rect">
            <a:avLst/>
          </a:prstGeom>
        </p:spPr>
        <p:txBody>
          <a:bodyPr vert="horz" wrap="square" lIns="0" tIns="12065" rIns="0" bIns="0" rtlCol="0">
            <a:spAutoFit/>
          </a:bodyPr>
          <a:lstStyle/>
          <a:p>
            <a:pPr marL="12700">
              <a:lnSpc>
                <a:spcPct val="100000"/>
              </a:lnSpc>
              <a:spcBef>
                <a:spcPts val="95"/>
              </a:spcBef>
            </a:pPr>
            <a:r>
              <a:rPr lang="en-IN" sz="800" spc="-50" dirty="0">
                <a:solidFill>
                  <a:srgbClr val="EAEAF7"/>
                </a:solidFill>
                <a:latin typeface="Arial MT"/>
                <a:cs typeface="Arial MT"/>
              </a:rPr>
              <a:t>8</a:t>
            </a:r>
            <a:endParaRPr sz="800" dirty="0">
              <a:latin typeface="Arial MT"/>
              <a:cs typeface="Arial MT"/>
            </a:endParaRPr>
          </a:p>
        </p:txBody>
      </p:sp>
      <p:pic>
        <p:nvPicPr>
          <p:cNvPr id="6" name="Picture 5">
            <a:extLst>
              <a:ext uri="{FF2B5EF4-FFF2-40B4-BE49-F238E27FC236}">
                <a16:creationId xmlns:a16="http://schemas.microsoft.com/office/drawing/2014/main" id="{390384CA-AD32-6F45-2EE3-B0537F84AE28}"/>
              </a:ext>
            </a:extLst>
          </p:cNvPr>
          <p:cNvPicPr>
            <a:picLocks noChangeAspect="1"/>
          </p:cNvPicPr>
          <p:nvPr/>
        </p:nvPicPr>
        <p:blipFill>
          <a:blip r:embed="rId8"/>
          <a:stretch>
            <a:fillRect/>
          </a:stretch>
        </p:blipFill>
        <p:spPr>
          <a:xfrm>
            <a:off x="95250" y="2777745"/>
            <a:ext cx="188992" cy="188992"/>
          </a:xfrm>
          <a:prstGeom prst="rect">
            <a:avLst/>
          </a:prstGeom>
        </p:spPr>
      </p:pic>
      <p:sp>
        <p:nvSpPr>
          <p:cNvPr id="26" name="object 14">
            <a:extLst>
              <a:ext uri="{FF2B5EF4-FFF2-40B4-BE49-F238E27FC236}">
                <a16:creationId xmlns:a16="http://schemas.microsoft.com/office/drawing/2014/main" id="{87E0E732-97C0-850A-5809-14205BFE7510}"/>
              </a:ext>
            </a:extLst>
          </p:cNvPr>
          <p:cNvSpPr txBox="1"/>
          <p:nvPr/>
        </p:nvSpPr>
        <p:spPr>
          <a:xfrm>
            <a:off x="164644" y="2806920"/>
            <a:ext cx="81915" cy="135293"/>
          </a:xfrm>
          <a:prstGeom prst="rect">
            <a:avLst/>
          </a:prstGeom>
        </p:spPr>
        <p:txBody>
          <a:bodyPr vert="horz" wrap="square" lIns="0" tIns="12065" rIns="0" bIns="0" rtlCol="0">
            <a:spAutoFit/>
          </a:bodyPr>
          <a:lstStyle/>
          <a:p>
            <a:pPr marL="12700">
              <a:lnSpc>
                <a:spcPct val="100000"/>
              </a:lnSpc>
              <a:spcBef>
                <a:spcPts val="95"/>
              </a:spcBef>
            </a:pPr>
            <a:r>
              <a:rPr lang="en-IN" sz="800" spc="-50" dirty="0">
                <a:solidFill>
                  <a:srgbClr val="EAEAF7"/>
                </a:solidFill>
                <a:latin typeface="Arial MT"/>
                <a:cs typeface="Arial MT"/>
              </a:rPr>
              <a:t>9</a:t>
            </a:r>
            <a:endParaRPr sz="800" dirty="0">
              <a:latin typeface="Arial MT"/>
              <a:cs typeface="Arial MT"/>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127E70-1A74-F4DA-5649-1CBD164229C5}"/>
              </a:ext>
            </a:extLst>
          </p:cNvPr>
          <p:cNvSpPr/>
          <p:nvPr/>
        </p:nvSpPr>
        <p:spPr>
          <a:xfrm>
            <a:off x="-708" y="206375"/>
            <a:ext cx="4409219" cy="263574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171450" indent="-171450" algn="l">
              <a:buFont typeface="Wingdings" panose="05000000000000000000" pitchFamily="2" charset="2"/>
              <a:buChar char="v"/>
            </a:pPr>
            <a:r>
              <a:rPr lang="en-US" sz="1200" b="1" dirty="0">
                <a:solidFill>
                  <a:schemeClr val="tx1"/>
                </a:solidFill>
              </a:rPr>
              <a:t>Object Detection:</a:t>
            </a:r>
          </a:p>
          <a:p>
            <a:pPr algn="l"/>
            <a:endParaRPr lang="en-US" sz="1200" b="1" dirty="0">
              <a:solidFill>
                <a:schemeClr val="tx1"/>
              </a:solidFill>
            </a:endParaRPr>
          </a:p>
          <a:p>
            <a:pPr algn="l"/>
            <a:r>
              <a:rPr lang="en-US" sz="1100" dirty="0">
                <a:solidFill>
                  <a:schemeClr val="tx1"/>
                </a:solidFill>
              </a:rPr>
              <a:t>Object detection identifies objects in an image and locates them using bounding boxes. It outputs class labels and coordinates of each object and can detect multiple objects of different classes in a single image. Common algorithms used are YOLO, GNN, and Faster R-CNN, and it finds applications in autonomous driving, surveillance, and face detection. Since it only predicts bounding boxes and not every pixel, it is faster than pixel-level segmentation. Its performance is typically measured using mean Average Precision (</a:t>
            </a:r>
            <a:r>
              <a:rPr lang="en-US" sz="1100" dirty="0" err="1">
                <a:solidFill>
                  <a:schemeClr val="tx1"/>
                </a:solidFill>
              </a:rPr>
              <a:t>mAP</a:t>
            </a:r>
            <a:r>
              <a:rPr lang="en-US" sz="1100" dirty="0">
                <a:solidFill>
                  <a:schemeClr val="tx1"/>
                </a:solidFill>
              </a:rPr>
              <a:t>).</a:t>
            </a:r>
            <a:endParaRPr lang="en-IN" sz="1100" dirty="0">
              <a:solidFill>
                <a:schemeClr val="tx1"/>
              </a:solidFill>
            </a:endParaRPr>
          </a:p>
        </p:txBody>
      </p:sp>
      <p:sp>
        <p:nvSpPr>
          <p:cNvPr id="6" name="Rectangle 5">
            <a:extLst>
              <a:ext uri="{FF2B5EF4-FFF2-40B4-BE49-F238E27FC236}">
                <a16:creationId xmlns:a16="http://schemas.microsoft.com/office/drawing/2014/main" id="{021DE981-D2FF-39BA-127F-4745CA6B05AE}"/>
              </a:ext>
            </a:extLst>
          </p:cNvPr>
          <p:cNvSpPr/>
          <p:nvPr/>
        </p:nvSpPr>
        <p:spPr>
          <a:xfrm>
            <a:off x="2739772" y="2416175"/>
            <a:ext cx="1241678" cy="4929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779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Introduction</a:t>
            </a:r>
            <a:endParaRPr sz="1400" dirty="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9" name="object 9"/>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0" name="object 10"/>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1" name="object 1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3</a:t>
            </a:fld>
            <a:r>
              <a:rPr spc="-70" dirty="0"/>
              <a:t> </a:t>
            </a:r>
            <a:r>
              <a:rPr dirty="0"/>
              <a:t>/</a:t>
            </a:r>
            <a:r>
              <a:rPr spc="-65" dirty="0"/>
              <a:t> </a:t>
            </a:r>
            <a:r>
              <a:rPr spc="-25" dirty="0"/>
              <a:t>15</a:t>
            </a:r>
          </a:p>
        </p:txBody>
      </p:sp>
      <p:grpSp>
        <p:nvGrpSpPr>
          <p:cNvPr id="12" name="object 10">
            <a:extLst>
              <a:ext uri="{FF2B5EF4-FFF2-40B4-BE49-F238E27FC236}">
                <a16:creationId xmlns:a16="http://schemas.microsoft.com/office/drawing/2014/main" id="{C6B39509-CFC8-17EB-9444-3E2D0B24ABA0}"/>
              </a:ext>
            </a:extLst>
          </p:cNvPr>
          <p:cNvGrpSpPr/>
          <p:nvPr/>
        </p:nvGrpSpPr>
        <p:grpSpPr>
          <a:xfrm>
            <a:off x="0" y="3328394"/>
            <a:ext cx="4598566" cy="126303"/>
            <a:chOff x="0" y="3326968"/>
            <a:chExt cx="4608017" cy="129539"/>
          </a:xfrm>
        </p:grpSpPr>
        <p:sp>
          <p:nvSpPr>
            <p:cNvPr id="13" name="object 11">
              <a:extLst>
                <a:ext uri="{FF2B5EF4-FFF2-40B4-BE49-F238E27FC236}">
                  <a16:creationId xmlns:a16="http://schemas.microsoft.com/office/drawing/2014/main" id="{DAC0493B-6C87-0197-20A0-35C3215AF212}"/>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F94B9B0E-4D78-70A6-1139-516FC92E1AAC}"/>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8" name="object 13">
              <a:extLst>
                <a:ext uri="{FF2B5EF4-FFF2-40B4-BE49-F238E27FC236}">
                  <a16:creationId xmlns:a16="http://schemas.microsoft.com/office/drawing/2014/main" id="{13AD5A97-8415-4137-1DAA-CEC52409B602}"/>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9" name="object 14">
            <a:extLst>
              <a:ext uri="{FF2B5EF4-FFF2-40B4-BE49-F238E27FC236}">
                <a16:creationId xmlns:a16="http://schemas.microsoft.com/office/drawing/2014/main" id="{961FED56-4937-5F4A-D45C-C5AD6A4887AB}"/>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20" name="object 15">
            <a:extLst>
              <a:ext uri="{FF2B5EF4-FFF2-40B4-BE49-F238E27FC236}">
                <a16:creationId xmlns:a16="http://schemas.microsoft.com/office/drawing/2014/main" id="{090BA225-0473-B33B-7B57-74F99A9B3DF5}"/>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1" name="object 16">
            <a:extLst>
              <a:ext uri="{FF2B5EF4-FFF2-40B4-BE49-F238E27FC236}">
                <a16:creationId xmlns:a16="http://schemas.microsoft.com/office/drawing/2014/main" id="{AD98C53A-3E9A-BECA-9CCB-1B357A11E8A0}"/>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2" name="object 17">
            <a:extLst>
              <a:ext uri="{FF2B5EF4-FFF2-40B4-BE49-F238E27FC236}">
                <a16:creationId xmlns:a16="http://schemas.microsoft.com/office/drawing/2014/main" id="{F80595C1-05B6-B5B0-CD3A-2C66AFA032A7}"/>
              </a:ext>
            </a:extLst>
          </p:cNvPr>
          <p:cNvSpPr txBox="1">
            <a:spLocks/>
          </p:cNvSpPr>
          <p:nvPr/>
        </p:nvSpPr>
        <p:spPr>
          <a:xfrm>
            <a:off x="4341495" y="3324328"/>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3</a:t>
            </a:fld>
            <a:r>
              <a:rPr lang="en-IN" spc="-70" dirty="0"/>
              <a:t> </a:t>
            </a:r>
            <a:r>
              <a:rPr lang="en-IN" dirty="0"/>
              <a:t>/</a:t>
            </a:r>
            <a:r>
              <a:rPr lang="en-IN" spc="-65" dirty="0"/>
              <a:t> </a:t>
            </a:r>
            <a:r>
              <a:rPr lang="en-IN" spc="-25" dirty="0"/>
              <a:t>11</a:t>
            </a:r>
          </a:p>
        </p:txBody>
      </p:sp>
      <p:pic>
        <p:nvPicPr>
          <p:cNvPr id="5" name="Picture 4">
            <a:extLst>
              <a:ext uri="{FF2B5EF4-FFF2-40B4-BE49-F238E27FC236}">
                <a16:creationId xmlns:a16="http://schemas.microsoft.com/office/drawing/2014/main" id="{1F42AEBA-1CA3-27C1-16CA-AD4BCE1EBB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34951" y="2513921"/>
            <a:ext cx="322895" cy="326190"/>
          </a:xfrm>
          <a:prstGeom prst="rect">
            <a:avLst/>
          </a:prstGeom>
        </p:spPr>
      </p:pic>
      <p:cxnSp>
        <p:nvCxnSpPr>
          <p:cNvPr id="23" name="Straight Connector 22">
            <a:extLst>
              <a:ext uri="{FF2B5EF4-FFF2-40B4-BE49-F238E27FC236}">
                <a16:creationId xmlns:a16="http://schemas.microsoft.com/office/drawing/2014/main" id="{35440653-6388-FA2C-1514-A939EE5625D9}"/>
              </a:ext>
            </a:extLst>
          </p:cNvPr>
          <p:cNvCxnSpPr>
            <a:cxnSpLocks/>
          </p:cNvCxnSpPr>
          <p:nvPr/>
        </p:nvCxnSpPr>
        <p:spPr>
          <a:xfrm>
            <a:off x="2787361" y="2494617"/>
            <a:ext cx="0" cy="347504"/>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7A3F1C5-A476-CE2C-B1C5-B5443DEB264D}"/>
              </a:ext>
            </a:extLst>
          </p:cNvPr>
          <p:cNvCxnSpPr>
            <a:cxnSpLocks/>
          </p:cNvCxnSpPr>
          <p:nvPr/>
        </p:nvCxnSpPr>
        <p:spPr>
          <a:xfrm>
            <a:off x="3219450" y="2499495"/>
            <a:ext cx="0" cy="342626"/>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38A4A8DC-E545-8B0C-720A-E30FDBC9345E}"/>
              </a:ext>
            </a:extLst>
          </p:cNvPr>
          <p:cNvCxnSpPr>
            <a:cxnSpLocks/>
          </p:cNvCxnSpPr>
          <p:nvPr/>
        </p:nvCxnSpPr>
        <p:spPr>
          <a:xfrm>
            <a:off x="2794193" y="2499495"/>
            <a:ext cx="427433" cy="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58E504D7-0CFC-6DA9-BDCE-7E17AA36077F}"/>
              </a:ext>
            </a:extLst>
          </p:cNvPr>
          <p:cNvCxnSpPr>
            <a:cxnSpLocks/>
          </p:cNvCxnSpPr>
          <p:nvPr/>
        </p:nvCxnSpPr>
        <p:spPr>
          <a:xfrm flipH="1">
            <a:off x="2787361" y="2842121"/>
            <a:ext cx="427433" cy="0"/>
          </a:xfrm>
          <a:prstGeom prst="line">
            <a:avLst/>
          </a:prstGeom>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9ACDAFED-CC5A-6712-4D02-AC157CEA57BE}"/>
              </a:ext>
            </a:extLst>
          </p:cNvPr>
          <p:cNvSpPr/>
          <p:nvPr/>
        </p:nvSpPr>
        <p:spPr>
          <a:xfrm>
            <a:off x="2664978" y="2931261"/>
            <a:ext cx="1193684" cy="15745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IN" sz="900" dirty="0">
                <a:solidFill>
                  <a:schemeClr val="tx1"/>
                </a:solidFill>
              </a:rPr>
              <a:t>Fig. Object Detection</a:t>
            </a:r>
          </a:p>
        </p:txBody>
      </p:sp>
    </p:spTree>
    <p:extLst>
      <p:ext uri="{BB962C8B-B14F-4D97-AF65-F5344CB8AC3E}">
        <p14:creationId xmlns:p14="http://schemas.microsoft.com/office/powerpoint/2010/main" val="485797977"/>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CC3986-530F-687B-5041-B57AABF11512}"/>
              </a:ext>
            </a:extLst>
          </p:cNvPr>
          <p:cNvSpPr/>
          <p:nvPr/>
        </p:nvSpPr>
        <p:spPr>
          <a:xfrm>
            <a:off x="3295650" y="2624560"/>
            <a:ext cx="1064314"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779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Introduction</a:t>
            </a:r>
            <a:endParaRPr sz="1400" dirty="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9" name="object 9"/>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0" name="object 10"/>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1" name="object 1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4</a:t>
            </a:fld>
            <a:r>
              <a:rPr spc="-70" dirty="0"/>
              <a:t> </a:t>
            </a:r>
            <a:r>
              <a:rPr dirty="0"/>
              <a:t>/</a:t>
            </a:r>
            <a:r>
              <a:rPr spc="-65" dirty="0"/>
              <a:t> </a:t>
            </a:r>
            <a:r>
              <a:rPr spc="-25" dirty="0"/>
              <a:t>15</a:t>
            </a:r>
          </a:p>
        </p:txBody>
      </p:sp>
      <p:sp>
        <p:nvSpPr>
          <p:cNvPr id="17" name="Rectangle 2">
            <a:extLst>
              <a:ext uri="{FF2B5EF4-FFF2-40B4-BE49-F238E27FC236}">
                <a16:creationId xmlns:a16="http://schemas.microsoft.com/office/drawing/2014/main" id="{73CA3F58-69F7-BF40-F923-98D9DC212054}"/>
              </a:ext>
            </a:extLst>
          </p:cNvPr>
          <p:cNvSpPr>
            <a:spLocks noChangeArrowheads="1"/>
          </p:cNvSpPr>
          <p:nvPr/>
        </p:nvSpPr>
        <p:spPr bwMode="auto">
          <a:xfrm>
            <a:off x="36234" y="169097"/>
            <a:ext cx="4238927" cy="2662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sz="1200" b="1" dirty="0">
                <a:solidFill>
                  <a:schemeClr val="tx1"/>
                </a:solidFill>
                <a:latin typeface="Arial" panose="020B0604020202020204" pitchFamily="34" charset="0"/>
              </a:rPr>
              <a:t>Alternative : Image Segmentation</a:t>
            </a:r>
          </a:p>
          <a:p>
            <a:pPr algn="l" rtl="0" eaLnBrk="0" fontAlgn="base" hangingPunct="0">
              <a:spcBef>
                <a:spcPct val="0"/>
              </a:spcBef>
              <a:spcAft>
                <a:spcPct val="0"/>
              </a:spcAft>
            </a:pPr>
            <a:r>
              <a:rPr lang="en-US" sz="1100" dirty="0"/>
              <a:t>Image segmentation is also a computer vision task that detects known objects along with their precise location. Instead of relying on bounding boxes, it returns a mask that specifies which pixels in the image belong to each object. This approach divides an image into regions or segments based on pixel characteristics and provides pixel-level classification rather than just bounding boxes. Common algorithms for image segmentation include U-Net, Mask R-CNN, and Deep-Lab. It is widely used in applications such as medical imaging, scene understanding, and augmented reality. However, it is generally more computationally intensive than object detection because it requires analyzing every pixel in the image.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u="none" strike="noStrike" cap="none" normalizeH="0" baseline="0" dirty="0">
              <a:ln>
                <a:noFill/>
              </a:ln>
              <a:solidFill>
                <a:schemeClr val="tx1"/>
              </a:solidFill>
              <a:effectLst/>
              <a:latin typeface="Arial" panose="020B0604020202020204" pitchFamily="34" charset="0"/>
            </a:endParaRPr>
          </a:p>
        </p:txBody>
      </p:sp>
      <p:grpSp>
        <p:nvGrpSpPr>
          <p:cNvPr id="12" name="object 10">
            <a:extLst>
              <a:ext uri="{FF2B5EF4-FFF2-40B4-BE49-F238E27FC236}">
                <a16:creationId xmlns:a16="http://schemas.microsoft.com/office/drawing/2014/main" id="{C6B39509-CFC8-17EB-9444-3E2D0B24ABA0}"/>
              </a:ext>
            </a:extLst>
          </p:cNvPr>
          <p:cNvGrpSpPr/>
          <p:nvPr/>
        </p:nvGrpSpPr>
        <p:grpSpPr>
          <a:xfrm>
            <a:off x="0" y="3328394"/>
            <a:ext cx="4598566" cy="126303"/>
            <a:chOff x="0" y="3326968"/>
            <a:chExt cx="4608017" cy="129539"/>
          </a:xfrm>
        </p:grpSpPr>
        <p:sp>
          <p:nvSpPr>
            <p:cNvPr id="13" name="object 11">
              <a:extLst>
                <a:ext uri="{FF2B5EF4-FFF2-40B4-BE49-F238E27FC236}">
                  <a16:creationId xmlns:a16="http://schemas.microsoft.com/office/drawing/2014/main" id="{DAC0493B-6C87-0197-20A0-35C3215AF212}"/>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F94B9B0E-4D78-70A6-1139-516FC92E1AAC}"/>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8" name="object 13">
              <a:extLst>
                <a:ext uri="{FF2B5EF4-FFF2-40B4-BE49-F238E27FC236}">
                  <a16:creationId xmlns:a16="http://schemas.microsoft.com/office/drawing/2014/main" id="{13AD5A97-8415-4137-1DAA-CEC52409B602}"/>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9" name="object 14">
            <a:extLst>
              <a:ext uri="{FF2B5EF4-FFF2-40B4-BE49-F238E27FC236}">
                <a16:creationId xmlns:a16="http://schemas.microsoft.com/office/drawing/2014/main" id="{961FED56-4937-5F4A-D45C-C5AD6A4887AB}"/>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20" name="object 15">
            <a:extLst>
              <a:ext uri="{FF2B5EF4-FFF2-40B4-BE49-F238E27FC236}">
                <a16:creationId xmlns:a16="http://schemas.microsoft.com/office/drawing/2014/main" id="{090BA225-0473-B33B-7B57-74F99A9B3DF5}"/>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1" name="object 16">
            <a:extLst>
              <a:ext uri="{FF2B5EF4-FFF2-40B4-BE49-F238E27FC236}">
                <a16:creationId xmlns:a16="http://schemas.microsoft.com/office/drawing/2014/main" id="{AD98C53A-3E9A-BECA-9CCB-1B357A11E8A0}"/>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2" name="object 17">
            <a:extLst>
              <a:ext uri="{FF2B5EF4-FFF2-40B4-BE49-F238E27FC236}">
                <a16:creationId xmlns:a16="http://schemas.microsoft.com/office/drawing/2014/main" id="{F80595C1-05B6-B5B0-CD3A-2C66AFA032A7}"/>
              </a:ext>
            </a:extLst>
          </p:cNvPr>
          <p:cNvSpPr txBox="1">
            <a:spLocks/>
          </p:cNvSpPr>
          <p:nvPr/>
        </p:nvSpPr>
        <p:spPr>
          <a:xfrm>
            <a:off x="4341495" y="3324328"/>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4</a:t>
            </a:fld>
            <a:r>
              <a:rPr lang="en-IN" spc="-70" dirty="0"/>
              <a:t> </a:t>
            </a:r>
            <a:r>
              <a:rPr lang="en-IN" dirty="0"/>
              <a:t>/</a:t>
            </a:r>
            <a:r>
              <a:rPr lang="en-IN" spc="-65" dirty="0"/>
              <a:t> </a:t>
            </a:r>
            <a:r>
              <a:rPr lang="en-IN" spc="-25" dirty="0"/>
              <a:t>11</a:t>
            </a:r>
          </a:p>
        </p:txBody>
      </p:sp>
      <p:pic>
        <p:nvPicPr>
          <p:cNvPr id="43" name="Picture 42">
            <a:extLst>
              <a:ext uri="{FF2B5EF4-FFF2-40B4-BE49-F238E27FC236}">
                <a16:creationId xmlns:a16="http://schemas.microsoft.com/office/drawing/2014/main" id="{01EF4143-DB63-F731-5886-39B5E81589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39804" y="2713149"/>
            <a:ext cx="292610" cy="236429"/>
          </a:xfrm>
          <a:prstGeom prst="rect">
            <a:avLst/>
          </a:prstGeom>
        </p:spPr>
      </p:pic>
      <p:sp>
        <p:nvSpPr>
          <p:cNvPr id="5" name="Rectangle 4">
            <a:extLst>
              <a:ext uri="{FF2B5EF4-FFF2-40B4-BE49-F238E27FC236}">
                <a16:creationId xmlns:a16="http://schemas.microsoft.com/office/drawing/2014/main" id="{19D5D4DC-0775-595B-D77E-82B112FC8155}"/>
              </a:ext>
            </a:extLst>
          </p:cNvPr>
          <p:cNvSpPr/>
          <p:nvPr/>
        </p:nvSpPr>
        <p:spPr>
          <a:xfrm>
            <a:off x="3171321" y="3005560"/>
            <a:ext cx="1438779" cy="15745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IN" sz="900" dirty="0">
                <a:solidFill>
                  <a:schemeClr val="tx1"/>
                </a:solidFill>
              </a:rPr>
              <a:t>Fig. Image segmentation</a:t>
            </a:r>
          </a:p>
        </p:txBody>
      </p:sp>
    </p:spTree>
    <p:extLst>
      <p:ext uri="{BB962C8B-B14F-4D97-AF65-F5344CB8AC3E}">
        <p14:creationId xmlns:p14="http://schemas.microsoft.com/office/powerpoint/2010/main" val="2005717281"/>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779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Introduction</a:t>
            </a:r>
            <a:endParaRPr sz="140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9" name="object 9"/>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0" name="object 10"/>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1" name="object 1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5</a:t>
            </a:fld>
            <a:r>
              <a:rPr spc="-70" dirty="0"/>
              <a:t> </a:t>
            </a:r>
            <a:r>
              <a:rPr dirty="0"/>
              <a:t>/</a:t>
            </a:r>
            <a:r>
              <a:rPr spc="-65" dirty="0"/>
              <a:t> </a:t>
            </a:r>
            <a:r>
              <a:rPr spc="-25" dirty="0"/>
              <a:t>15</a:t>
            </a:r>
          </a:p>
        </p:txBody>
      </p:sp>
      <p:sp>
        <p:nvSpPr>
          <p:cNvPr id="13" name="Rectangle 1">
            <a:extLst>
              <a:ext uri="{FF2B5EF4-FFF2-40B4-BE49-F238E27FC236}">
                <a16:creationId xmlns:a16="http://schemas.microsoft.com/office/drawing/2014/main" id="{2D7A5A0D-AB51-4865-6497-E29BA26C7EDE}"/>
              </a:ext>
            </a:extLst>
          </p:cNvPr>
          <p:cNvSpPr>
            <a:spLocks noChangeArrowheads="1"/>
          </p:cNvSpPr>
          <p:nvPr/>
        </p:nvSpPr>
        <p:spPr bwMode="auto">
          <a:xfrm>
            <a:off x="-80481" y="257261"/>
            <a:ext cx="48768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sz="1100" dirty="0"/>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sz="1100" dirty="0"/>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sz="1100" b="1" dirty="0"/>
              <a:t>Convolutional Neural Networks (CNNs):</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sz="1100" dirty="0"/>
          </a:p>
          <a:p>
            <a:pPr marR="0" lvl="0" algn="l" defTabSz="914400" rtl="0" eaLnBrk="0" fontAlgn="base" latinLnBrk="0" hangingPunct="0">
              <a:lnSpc>
                <a:spcPct val="100000"/>
              </a:lnSpc>
              <a:spcBef>
                <a:spcPct val="0"/>
              </a:spcBef>
              <a:spcAft>
                <a:spcPct val="0"/>
              </a:spcAft>
              <a:buClrTx/>
              <a:buSzTx/>
              <a:tabLst/>
            </a:pPr>
            <a:r>
              <a:rPr lang="en-US" sz="1100" dirty="0"/>
              <a:t>CNN are deep learning models that automatically extract spatial features from images, making them more effective than multilayer </a:t>
            </a:r>
            <a:r>
              <a:rPr lang="en-US" sz="1100" dirty="0" err="1"/>
              <a:t>perceptrons</a:t>
            </a:r>
            <a:r>
              <a:rPr lang="en-US" sz="1100" dirty="0"/>
              <a:t> (MLPs) for tasks like classification, detection, and recognition. They can efficiently learn visual patterns such as edges, shapes, and objects, enabling accurate identification and localization of events like wrong-way driving, vehicle stoppage, pedestrian intrusion, or fire in tunnels, which helps prevent collisions, reduce damage, save lives, and ensure timely responses by authorities to avoid future accidents.</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grpSp>
        <p:nvGrpSpPr>
          <p:cNvPr id="12" name="object 10">
            <a:extLst>
              <a:ext uri="{FF2B5EF4-FFF2-40B4-BE49-F238E27FC236}">
                <a16:creationId xmlns:a16="http://schemas.microsoft.com/office/drawing/2014/main" id="{388E332D-8B94-C16E-8DBC-45D581932236}"/>
              </a:ext>
            </a:extLst>
          </p:cNvPr>
          <p:cNvGrpSpPr/>
          <p:nvPr/>
        </p:nvGrpSpPr>
        <p:grpSpPr>
          <a:xfrm>
            <a:off x="0" y="3328394"/>
            <a:ext cx="4598566" cy="126303"/>
            <a:chOff x="0" y="3326968"/>
            <a:chExt cx="4608017" cy="129539"/>
          </a:xfrm>
        </p:grpSpPr>
        <p:sp>
          <p:nvSpPr>
            <p:cNvPr id="14" name="object 11">
              <a:extLst>
                <a:ext uri="{FF2B5EF4-FFF2-40B4-BE49-F238E27FC236}">
                  <a16:creationId xmlns:a16="http://schemas.microsoft.com/office/drawing/2014/main" id="{900AA2AB-7796-7C8E-E6B2-BDC8400FE1C5}"/>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5" name="object 12">
              <a:extLst>
                <a:ext uri="{FF2B5EF4-FFF2-40B4-BE49-F238E27FC236}">
                  <a16:creationId xmlns:a16="http://schemas.microsoft.com/office/drawing/2014/main" id="{8FC0AA73-1EA8-0537-BF13-53826E3AECDF}"/>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6" name="object 13">
              <a:extLst>
                <a:ext uri="{FF2B5EF4-FFF2-40B4-BE49-F238E27FC236}">
                  <a16:creationId xmlns:a16="http://schemas.microsoft.com/office/drawing/2014/main" id="{06EE9D8B-E870-6E6D-E852-9F8E7FD5C74A}"/>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7" name="object 14">
            <a:extLst>
              <a:ext uri="{FF2B5EF4-FFF2-40B4-BE49-F238E27FC236}">
                <a16:creationId xmlns:a16="http://schemas.microsoft.com/office/drawing/2014/main" id="{6E88409D-EA33-397E-9ABE-66593C7A8418}"/>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8" name="object 15">
            <a:extLst>
              <a:ext uri="{FF2B5EF4-FFF2-40B4-BE49-F238E27FC236}">
                <a16:creationId xmlns:a16="http://schemas.microsoft.com/office/drawing/2014/main" id="{560D3B4D-8247-C9FC-F714-98E08BEEA32F}"/>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19" name="object 16">
            <a:extLst>
              <a:ext uri="{FF2B5EF4-FFF2-40B4-BE49-F238E27FC236}">
                <a16:creationId xmlns:a16="http://schemas.microsoft.com/office/drawing/2014/main" id="{2C2CFCDE-6BF5-18AD-1135-6434E0310FBD}"/>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0" name="object 17">
            <a:extLst>
              <a:ext uri="{FF2B5EF4-FFF2-40B4-BE49-F238E27FC236}">
                <a16:creationId xmlns:a16="http://schemas.microsoft.com/office/drawing/2014/main" id="{744182AD-CD57-0566-AD41-8150577C1EF2}"/>
              </a:ext>
            </a:extLst>
          </p:cNvPr>
          <p:cNvSpPr txBox="1">
            <a:spLocks/>
          </p:cNvSpPr>
          <p:nvPr/>
        </p:nvSpPr>
        <p:spPr>
          <a:xfrm>
            <a:off x="4321883" y="3330575"/>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5</a:t>
            </a:fld>
            <a:r>
              <a:rPr lang="en-IN" spc="-70" dirty="0"/>
              <a:t> </a:t>
            </a:r>
            <a:r>
              <a:rPr lang="en-IN" dirty="0"/>
              <a:t>/</a:t>
            </a:r>
            <a:r>
              <a:rPr lang="en-IN" spc="-65" dirty="0"/>
              <a:t> </a:t>
            </a:r>
            <a:r>
              <a:rPr lang="en-IN" spc="-25" dirty="0"/>
              <a:t>11</a:t>
            </a:r>
          </a:p>
        </p:txBody>
      </p:sp>
    </p:spTree>
    <p:extLst>
      <p:ext uri="{BB962C8B-B14F-4D97-AF65-F5344CB8AC3E}">
        <p14:creationId xmlns:p14="http://schemas.microsoft.com/office/powerpoint/2010/main" val="511599669"/>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783080" cy="232756"/>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Literature</a:t>
            </a:r>
            <a:r>
              <a:rPr sz="1400" spc="105" dirty="0">
                <a:solidFill>
                  <a:srgbClr val="FFFFFF"/>
                </a:solidFill>
                <a:latin typeface="Arial MT"/>
                <a:cs typeface="Arial MT"/>
              </a:rPr>
              <a:t> </a:t>
            </a:r>
            <a:r>
              <a:rPr sz="1400" spc="-10" dirty="0">
                <a:solidFill>
                  <a:srgbClr val="FFFFFF"/>
                </a:solidFill>
                <a:latin typeface="Arial MT"/>
                <a:cs typeface="Arial MT"/>
              </a:rPr>
              <a:t>Survey(</a:t>
            </a:r>
            <a:r>
              <a:rPr lang="en-IN" sz="1400" spc="-10" dirty="0">
                <a:solidFill>
                  <a:srgbClr val="FFFFFF"/>
                </a:solidFill>
                <a:latin typeface="Arial MT"/>
                <a:cs typeface="Arial MT"/>
              </a:rPr>
              <a:t>1</a:t>
            </a:r>
            <a:r>
              <a:rPr sz="1400" spc="-10" dirty="0">
                <a:solidFill>
                  <a:srgbClr val="FFFFFF"/>
                </a:solidFill>
                <a:latin typeface="Arial MT"/>
                <a:cs typeface="Arial MT"/>
              </a:rPr>
              <a:t>/</a:t>
            </a:r>
            <a:r>
              <a:rPr lang="en-IN" sz="1400" spc="-10" dirty="0">
                <a:solidFill>
                  <a:srgbClr val="FFFFFF"/>
                </a:solidFill>
                <a:latin typeface="Arial MT"/>
                <a:cs typeface="Arial MT"/>
              </a:rPr>
              <a:t>4</a:t>
            </a:r>
            <a:r>
              <a:rPr sz="1400" spc="-10" dirty="0">
                <a:solidFill>
                  <a:srgbClr val="FFFFFF"/>
                </a:solidFill>
                <a:latin typeface="Arial MT"/>
                <a:cs typeface="Arial MT"/>
              </a:rPr>
              <a:t>)</a:t>
            </a:r>
            <a:endParaRPr sz="1400" dirty="0">
              <a:latin typeface="Arial MT"/>
              <a:cs typeface="Arial MT"/>
            </a:endParaRPr>
          </a:p>
        </p:txBody>
      </p:sp>
      <p:sp>
        <p:nvSpPr>
          <p:cNvPr id="5" name="object 5"/>
          <p:cNvSpPr txBox="1"/>
          <p:nvPr/>
        </p:nvSpPr>
        <p:spPr>
          <a:xfrm>
            <a:off x="1570354" y="3099612"/>
            <a:ext cx="1467485" cy="166071"/>
          </a:xfrm>
          <a:prstGeom prst="rect">
            <a:avLst/>
          </a:prstGeom>
        </p:spPr>
        <p:txBody>
          <a:bodyPr vert="horz" wrap="square" lIns="0" tIns="12065" rIns="0" bIns="0" rtlCol="0">
            <a:spAutoFit/>
          </a:bodyPr>
          <a:lstStyle/>
          <a:p>
            <a:pPr marL="12700">
              <a:lnSpc>
                <a:spcPct val="100000"/>
              </a:lnSpc>
              <a:spcBef>
                <a:spcPts val="95"/>
              </a:spcBef>
            </a:pPr>
            <a:r>
              <a:rPr sz="1000" spc="-25" dirty="0">
                <a:latin typeface="Arial MT"/>
                <a:cs typeface="Arial MT"/>
              </a:rPr>
              <a:t>Table </a:t>
            </a:r>
            <a:r>
              <a:rPr lang="en-IN" sz="1000" spc="-25" dirty="0">
                <a:latin typeface="Arial MT"/>
                <a:cs typeface="Arial MT"/>
              </a:rPr>
              <a:t>1</a:t>
            </a:r>
            <a:r>
              <a:rPr sz="1000" dirty="0">
                <a:latin typeface="Arial MT"/>
                <a:cs typeface="Arial MT"/>
              </a:rPr>
              <a:t>:-Literature</a:t>
            </a:r>
            <a:r>
              <a:rPr sz="1000" spc="-20" dirty="0">
                <a:latin typeface="Arial MT"/>
                <a:cs typeface="Arial MT"/>
              </a:rPr>
              <a:t> </a:t>
            </a:r>
            <a:r>
              <a:rPr sz="1000" spc="-10" dirty="0">
                <a:latin typeface="Arial MT"/>
                <a:cs typeface="Arial MT"/>
              </a:rPr>
              <a:t>Survey</a:t>
            </a:r>
            <a:endParaRPr sz="10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6</a:t>
            </a:fld>
            <a:r>
              <a:rPr spc="-70" dirty="0"/>
              <a:t> </a:t>
            </a:r>
            <a:r>
              <a:rPr dirty="0"/>
              <a:t>/</a:t>
            </a:r>
            <a:r>
              <a:rPr spc="-65" dirty="0"/>
              <a:t> </a:t>
            </a:r>
            <a:r>
              <a:rPr spc="-25" dirty="0"/>
              <a:t>15</a:t>
            </a:r>
          </a:p>
        </p:txBody>
      </p:sp>
      <p:graphicFrame>
        <p:nvGraphicFramePr>
          <p:cNvPr id="14" name="Table 14">
            <a:extLst>
              <a:ext uri="{FF2B5EF4-FFF2-40B4-BE49-F238E27FC236}">
                <a16:creationId xmlns:a16="http://schemas.microsoft.com/office/drawing/2014/main" id="{11C976C2-94EB-9C01-B2B6-92613589EB01}"/>
              </a:ext>
            </a:extLst>
          </p:cNvPr>
          <p:cNvGraphicFramePr>
            <a:graphicFrameLocks noGrp="1"/>
          </p:cNvGraphicFramePr>
          <p:nvPr>
            <p:extLst>
              <p:ext uri="{D42A27DB-BD31-4B8C-83A1-F6EECF244321}">
                <p14:modId xmlns:p14="http://schemas.microsoft.com/office/powerpoint/2010/main" val="2666615216"/>
              </p:ext>
            </p:extLst>
          </p:nvPr>
        </p:nvGraphicFramePr>
        <p:xfrm>
          <a:off x="-9629" y="308109"/>
          <a:ext cx="4608195" cy="2529840"/>
        </p:xfrm>
        <a:graphic>
          <a:graphicData uri="http://schemas.openxmlformats.org/drawingml/2006/table">
            <a:tbl>
              <a:tblPr firstRow="1" bandRow="1">
                <a:tableStyleId>{5C22544A-7EE6-4342-B048-85BDC9FD1C3A}</a:tableStyleId>
              </a:tblPr>
              <a:tblGrid>
                <a:gridCol w="714479">
                  <a:extLst>
                    <a:ext uri="{9D8B030D-6E8A-4147-A177-3AD203B41FA5}">
                      <a16:colId xmlns:a16="http://schemas.microsoft.com/office/drawing/2014/main" val="1343165491"/>
                    </a:ext>
                  </a:extLst>
                </a:gridCol>
                <a:gridCol w="1671586">
                  <a:extLst>
                    <a:ext uri="{9D8B030D-6E8A-4147-A177-3AD203B41FA5}">
                      <a16:colId xmlns:a16="http://schemas.microsoft.com/office/drawing/2014/main" val="1670241405"/>
                    </a:ext>
                  </a:extLst>
                </a:gridCol>
                <a:gridCol w="1025410">
                  <a:extLst>
                    <a:ext uri="{9D8B030D-6E8A-4147-A177-3AD203B41FA5}">
                      <a16:colId xmlns:a16="http://schemas.microsoft.com/office/drawing/2014/main" val="1410617974"/>
                    </a:ext>
                  </a:extLst>
                </a:gridCol>
                <a:gridCol w="1196720">
                  <a:extLst>
                    <a:ext uri="{9D8B030D-6E8A-4147-A177-3AD203B41FA5}">
                      <a16:colId xmlns:a16="http://schemas.microsoft.com/office/drawing/2014/main" val="959990106"/>
                    </a:ext>
                  </a:extLst>
                </a:gridCol>
              </a:tblGrid>
              <a:tr h="215404">
                <a:tc>
                  <a:txBody>
                    <a:bodyPr/>
                    <a:lstStyle/>
                    <a:p>
                      <a:r>
                        <a:rPr lang="en-IN" sz="900" dirty="0"/>
                        <a:t>        </a:t>
                      </a:r>
                      <a:r>
                        <a:rPr lang="en-IN" sz="1000" dirty="0"/>
                        <a:t>Title</a:t>
                      </a:r>
                    </a:p>
                  </a:txBody>
                  <a:tcPr/>
                </a:tc>
                <a:tc>
                  <a:txBody>
                    <a:bodyPr/>
                    <a:lstStyle/>
                    <a:p>
                      <a:r>
                        <a:rPr lang="en-IN" sz="1000" dirty="0"/>
                        <a:t>Author, Year, Publication</a:t>
                      </a:r>
                    </a:p>
                  </a:txBody>
                  <a:tcPr/>
                </a:tc>
                <a:tc>
                  <a:txBody>
                    <a:bodyPr/>
                    <a:lstStyle/>
                    <a:p>
                      <a:r>
                        <a:rPr lang="en-IN" sz="1000" dirty="0"/>
                        <a:t>Approach</a:t>
                      </a:r>
                    </a:p>
                  </a:txBody>
                  <a:tcPr/>
                </a:tc>
                <a:tc>
                  <a:txBody>
                    <a:bodyPr/>
                    <a:lstStyle/>
                    <a:p>
                      <a:r>
                        <a:rPr lang="en-IN" sz="1000" dirty="0"/>
                        <a:t>Remark</a:t>
                      </a:r>
                    </a:p>
                  </a:txBody>
                  <a:tcPr/>
                </a:tc>
                <a:extLst>
                  <a:ext uri="{0D108BD9-81ED-4DB2-BD59-A6C34878D82A}">
                    <a16:rowId xmlns:a16="http://schemas.microsoft.com/office/drawing/2014/main" val="3810008744"/>
                  </a:ext>
                </a:extLst>
              </a:tr>
              <a:tr h="1050094">
                <a:tc>
                  <a:txBody>
                    <a:bodyPr/>
                    <a:lstStyle/>
                    <a:p>
                      <a:r>
                        <a:rPr lang="en-IN" sz="900" b="1" dirty="0">
                          <a:solidFill>
                            <a:schemeClr val="dk1"/>
                          </a:solidFill>
                          <a:effectLst/>
                          <a:latin typeface="+mn-lt"/>
                          <a:ea typeface="+mn-ea"/>
                          <a:cs typeface="+mn-cs"/>
                        </a:rPr>
                        <a:t>Automatic Detection of Foreign Object Debris on Runways</a:t>
                      </a:r>
                      <a:endParaRPr lang="en-IN" sz="1800" dirty="0">
                        <a:solidFill>
                          <a:schemeClr val="dk1"/>
                        </a:solidFill>
                        <a:effectLst/>
                        <a:latin typeface="+mn-lt"/>
                        <a:ea typeface="+mn-ea"/>
                        <a:cs typeface="+mn-cs"/>
                      </a:endParaRPr>
                    </a:p>
                    <a:p>
                      <a:r>
                        <a:rPr lang="en-IN" sz="1800" dirty="0">
                          <a:solidFill>
                            <a:schemeClr val="dk1"/>
                          </a:solidFill>
                          <a:effectLst/>
                          <a:latin typeface="+mn-lt"/>
                          <a:ea typeface="+mn-ea"/>
                          <a:cs typeface="+mn-cs"/>
                        </a:rPr>
                        <a:t> </a:t>
                      </a:r>
                    </a:p>
                    <a:p>
                      <a:endParaRPr lang="en-IN" sz="900" dirty="0"/>
                    </a:p>
                  </a:txBody>
                  <a:tcPr/>
                </a:tc>
                <a:tc>
                  <a:txBody>
                    <a:bodyPr/>
                    <a:lstStyle/>
                    <a:p>
                      <a:r>
                        <a:rPr lang="en-IN" sz="900" dirty="0">
                          <a:solidFill>
                            <a:schemeClr val="dk1"/>
                          </a:solidFill>
                          <a:effectLst/>
                          <a:latin typeface="+mn-lt"/>
                          <a:ea typeface="+mn-ea"/>
                          <a:cs typeface="+mn-cs"/>
                        </a:rPr>
                        <a:t>Dr. Rajeswari , 2025, International Journal for Research in Applied Science and Engineering Technology. </a:t>
                      </a:r>
                      <a:endParaRPr lang="en-IN" sz="900" dirty="0"/>
                    </a:p>
                  </a:txBody>
                  <a:tcPr/>
                </a:tc>
                <a:tc>
                  <a:txBody>
                    <a:bodyPr/>
                    <a:lstStyle/>
                    <a:p>
                      <a:r>
                        <a:rPr lang="en-IN" sz="900" dirty="0">
                          <a:solidFill>
                            <a:schemeClr val="dk1"/>
                          </a:solidFill>
                          <a:effectLst/>
                          <a:latin typeface="+mn-lt"/>
                          <a:ea typeface="+mn-ea"/>
                          <a:cs typeface="+mn-cs"/>
                        </a:rPr>
                        <a:t> FOD detection framework using  YOLO Model.</a:t>
                      </a:r>
                      <a:endParaRPr lang="en-IN" sz="900" dirty="0"/>
                    </a:p>
                  </a:txBody>
                  <a:tcPr/>
                </a:tc>
                <a:tc>
                  <a:txBody>
                    <a:bodyPr/>
                    <a:lstStyle/>
                    <a:p>
                      <a:r>
                        <a:rPr lang="en-US" sz="800" dirty="0"/>
                        <a:t>This paper presents a practical computer vision–based FOD detection framework using unmanned aerial systems and YOLO models, effectively addressing the limitations of accuracy and timeliness in traditional runway inspection methods. It contributes to enhancing aviation safety by enabling faster and more reliable foreign object detection and removal.</a:t>
                      </a:r>
                      <a:endParaRPr lang="en-IN" sz="800" dirty="0"/>
                    </a:p>
                  </a:txBody>
                  <a:tcPr/>
                </a:tc>
                <a:extLst>
                  <a:ext uri="{0D108BD9-81ED-4DB2-BD59-A6C34878D82A}">
                    <a16:rowId xmlns:a16="http://schemas.microsoft.com/office/drawing/2014/main" val="3721728066"/>
                  </a:ext>
                </a:extLst>
              </a:tr>
            </a:tbl>
          </a:graphicData>
        </a:graphic>
      </p:graphicFrame>
      <p:grpSp>
        <p:nvGrpSpPr>
          <p:cNvPr id="4" name="object 10">
            <a:extLst>
              <a:ext uri="{FF2B5EF4-FFF2-40B4-BE49-F238E27FC236}">
                <a16:creationId xmlns:a16="http://schemas.microsoft.com/office/drawing/2014/main" id="{246E33A3-4858-EC30-E40A-D4ECCF2D2078}"/>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AE99B57A-E4EB-F11D-BB2D-8D423CEA915B}"/>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FE96537F-42EB-6640-F6B9-3D311396CAA2}"/>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29401845-9C96-6C17-C1CD-186143ECA14E}"/>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2A92A1D5-59AB-1341-ACEE-954239961165}"/>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C08E4717-FAAF-7543-030B-F0385D6DD16D}"/>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2B5E8D87-CE34-2A05-25BF-94413231E7D8}"/>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6" name="object 17">
            <a:extLst>
              <a:ext uri="{FF2B5EF4-FFF2-40B4-BE49-F238E27FC236}">
                <a16:creationId xmlns:a16="http://schemas.microsoft.com/office/drawing/2014/main" id="{AE3ACD7A-2A15-49EE-30A1-3479F3B32C59}"/>
              </a:ext>
            </a:extLst>
          </p:cNvPr>
          <p:cNvSpPr txBox="1">
            <a:spLocks/>
          </p:cNvSpPr>
          <p:nvPr/>
        </p:nvSpPr>
        <p:spPr>
          <a:xfrm>
            <a:off x="4321883" y="3326967"/>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6</a:t>
            </a:fld>
            <a:r>
              <a:rPr lang="en-IN" spc="-70" dirty="0"/>
              <a:t> </a:t>
            </a:r>
            <a:r>
              <a:rPr lang="en-IN" dirty="0"/>
              <a:t>/</a:t>
            </a:r>
            <a:r>
              <a:rPr lang="en-IN" spc="-65" dirty="0"/>
              <a:t> </a:t>
            </a:r>
            <a:r>
              <a:rPr lang="en-IN" spc="-25" dirty="0"/>
              <a:t>11</a:t>
            </a:r>
          </a:p>
        </p:txBody>
      </p:sp>
    </p:spTree>
    <p:extLst>
      <p:ext uri="{BB962C8B-B14F-4D97-AF65-F5344CB8AC3E}">
        <p14:creationId xmlns:p14="http://schemas.microsoft.com/office/powerpoint/2010/main" val="1757421987"/>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783080" cy="232756"/>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Literature</a:t>
            </a:r>
            <a:r>
              <a:rPr sz="1400" spc="105" dirty="0">
                <a:solidFill>
                  <a:srgbClr val="FFFFFF"/>
                </a:solidFill>
                <a:latin typeface="Arial MT"/>
                <a:cs typeface="Arial MT"/>
              </a:rPr>
              <a:t> </a:t>
            </a:r>
            <a:r>
              <a:rPr sz="1400" spc="-10" dirty="0">
                <a:solidFill>
                  <a:srgbClr val="FFFFFF"/>
                </a:solidFill>
                <a:latin typeface="Arial MT"/>
                <a:cs typeface="Arial MT"/>
              </a:rPr>
              <a:t>Survey(</a:t>
            </a:r>
            <a:r>
              <a:rPr lang="en-IN" sz="1400" spc="-10" dirty="0">
                <a:solidFill>
                  <a:srgbClr val="FFFFFF"/>
                </a:solidFill>
                <a:latin typeface="Arial MT"/>
                <a:cs typeface="Arial MT"/>
              </a:rPr>
              <a:t>2</a:t>
            </a:r>
            <a:r>
              <a:rPr sz="1400" spc="-10" dirty="0">
                <a:solidFill>
                  <a:srgbClr val="FFFFFF"/>
                </a:solidFill>
                <a:latin typeface="Arial MT"/>
                <a:cs typeface="Arial MT"/>
              </a:rPr>
              <a:t>/</a:t>
            </a:r>
            <a:r>
              <a:rPr lang="en-IN" sz="1400" spc="-10" dirty="0">
                <a:solidFill>
                  <a:srgbClr val="FFFFFF"/>
                </a:solidFill>
                <a:latin typeface="Arial MT"/>
                <a:cs typeface="Arial MT"/>
              </a:rPr>
              <a:t>4</a:t>
            </a:r>
            <a:r>
              <a:rPr sz="1400" spc="-10" dirty="0">
                <a:solidFill>
                  <a:srgbClr val="FFFFFF"/>
                </a:solidFill>
                <a:latin typeface="Arial MT"/>
                <a:cs typeface="Arial MT"/>
              </a:rPr>
              <a:t>)</a:t>
            </a:r>
            <a:endParaRPr sz="1400" dirty="0">
              <a:latin typeface="Arial MT"/>
              <a:cs typeface="Arial MT"/>
            </a:endParaRPr>
          </a:p>
        </p:txBody>
      </p:sp>
      <p:sp>
        <p:nvSpPr>
          <p:cNvPr id="5" name="object 5"/>
          <p:cNvSpPr txBox="1"/>
          <p:nvPr/>
        </p:nvSpPr>
        <p:spPr>
          <a:xfrm>
            <a:off x="1570265" y="3033655"/>
            <a:ext cx="1467485" cy="166071"/>
          </a:xfrm>
          <a:prstGeom prst="rect">
            <a:avLst/>
          </a:prstGeom>
        </p:spPr>
        <p:txBody>
          <a:bodyPr vert="horz" wrap="square" lIns="0" tIns="12065" rIns="0" bIns="0" rtlCol="0">
            <a:spAutoFit/>
          </a:bodyPr>
          <a:lstStyle/>
          <a:p>
            <a:pPr marL="12700">
              <a:lnSpc>
                <a:spcPct val="100000"/>
              </a:lnSpc>
              <a:spcBef>
                <a:spcPts val="95"/>
              </a:spcBef>
            </a:pPr>
            <a:r>
              <a:rPr sz="1000" spc="-25" dirty="0">
                <a:latin typeface="Arial MT"/>
                <a:cs typeface="Arial MT"/>
              </a:rPr>
              <a:t>Table </a:t>
            </a:r>
            <a:r>
              <a:rPr lang="en-IN" sz="1000" spc="-25" dirty="0">
                <a:latin typeface="Arial MT"/>
                <a:cs typeface="Arial MT"/>
              </a:rPr>
              <a:t>2</a:t>
            </a:r>
            <a:r>
              <a:rPr sz="1000" dirty="0">
                <a:latin typeface="Arial MT"/>
                <a:cs typeface="Arial MT"/>
              </a:rPr>
              <a:t>:-Literature</a:t>
            </a:r>
            <a:r>
              <a:rPr sz="1000" spc="-20" dirty="0">
                <a:latin typeface="Arial MT"/>
                <a:cs typeface="Arial MT"/>
              </a:rPr>
              <a:t> </a:t>
            </a:r>
            <a:r>
              <a:rPr sz="1000" spc="-10" dirty="0">
                <a:latin typeface="Arial MT"/>
                <a:cs typeface="Arial MT"/>
              </a:rPr>
              <a:t>Survey</a:t>
            </a:r>
            <a:endParaRPr sz="10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7</a:t>
            </a:fld>
            <a:r>
              <a:rPr spc="-70" dirty="0"/>
              <a:t> </a:t>
            </a:r>
            <a:r>
              <a:rPr dirty="0"/>
              <a:t>/</a:t>
            </a:r>
            <a:r>
              <a:rPr spc="-65" dirty="0"/>
              <a:t> </a:t>
            </a:r>
            <a:r>
              <a:rPr spc="-25" dirty="0"/>
              <a:t>15</a:t>
            </a:r>
          </a:p>
        </p:txBody>
      </p:sp>
      <p:graphicFrame>
        <p:nvGraphicFramePr>
          <p:cNvPr id="14" name="Table 14">
            <a:extLst>
              <a:ext uri="{FF2B5EF4-FFF2-40B4-BE49-F238E27FC236}">
                <a16:creationId xmlns:a16="http://schemas.microsoft.com/office/drawing/2014/main" id="{11C976C2-94EB-9C01-B2B6-92613589EB01}"/>
              </a:ext>
            </a:extLst>
          </p:cNvPr>
          <p:cNvGraphicFramePr>
            <a:graphicFrameLocks noGrp="1"/>
          </p:cNvGraphicFramePr>
          <p:nvPr>
            <p:extLst>
              <p:ext uri="{D42A27DB-BD31-4B8C-83A1-F6EECF244321}">
                <p14:modId xmlns:p14="http://schemas.microsoft.com/office/powerpoint/2010/main" val="1379990235"/>
              </p:ext>
            </p:extLst>
          </p:nvPr>
        </p:nvGraphicFramePr>
        <p:xfrm>
          <a:off x="0" y="308110"/>
          <a:ext cx="4608195" cy="2683104"/>
        </p:xfrm>
        <a:graphic>
          <a:graphicData uri="http://schemas.openxmlformats.org/drawingml/2006/table">
            <a:tbl>
              <a:tblPr firstRow="1" bandRow="1">
                <a:tableStyleId>{5C22544A-7EE6-4342-B048-85BDC9FD1C3A}</a:tableStyleId>
              </a:tblPr>
              <a:tblGrid>
                <a:gridCol w="714479">
                  <a:extLst>
                    <a:ext uri="{9D8B030D-6E8A-4147-A177-3AD203B41FA5}">
                      <a16:colId xmlns:a16="http://schemas.microsoft.com/office/drawing/2014/main" val="1343165491"/>
                    </a:ext>
                  </a:extLst>
                </a:gridCol>
                <a:gridCol w="1671586">
                  <a:extLst>
                    <a:ext uri="{9D8B030D-6E8A-4147-A177-3AD203B41FA5}">
                      <a16:colId xmlns:a16="http://schemas.microsoft.com/office/drawing/2014/main" val="1670241405"/>
                    </a:ext>
                  </a:extLst>
                </a:gridCol>
                <a:gridCol w="1025410">
                  <a:extLst>
                    <a:ext uri="{9D8B030D-6E8A-4147-A177-3AD203B41FA5}">
                      <a16:colId xmlns:a16="http://schemas.microsoft.com/office/drawing/2014/main" val="1410617974"/>
                    </a:ext>
                  </a:extLst>
                </a:gridCol>
                <a:gridCol w="1196720">
                  <a:extLst>
                    <a:ext uri="{9D8B030D-6E8A-4147-A177-3AD203B41FA5}">
                      <a16:colId xmlns:a16="http://schemas.microsoft.com/office/drawing/2014/main" val="959990106"/>
                    </a:ext>
                  </a:extLst>
                </a:gridCol>
              </a:tblGrid>
              <a:tr h="203962">
                <a:tc>
                  <a:txBody>
                    <a:bodyPr/>
                    <a:lstStyle/>
                    <a:p>
                      <a:r>
                        <a:rPr lang="en-IN" sz="900" dirty="0"/>
                        <a:t>        </a:t>
                      </a:r>
                      <a:r>
                        <a:rPr lang="en-IN" sz="1000" dirty="0"/>
                        <a:t>Title</a:t>
                      </a:r>
                    </a:p>
                  </a:txBody>
                  <a:tcPr/>
                </a:tc>
                <a:tc>
                  <a:txBody>
                    <a:bodyPr/>
                    <a:lstStyle/>
                    <a:p>
                      <a:r>
                        <a:rPr lang="en-IN" sz="1000" dirty="0"/>
                        <a:t>Author, Year, Publication</a:t>
                      </a:r>
                    </a:p>
                  </a:txBody>
                  <a:tcPr/>
                </a:tc>
                <a:tc>
                  <a:txBody>
                    <a:bodyPr/>
                    <a:lstStyle/>
                    <a:p>
                      <a:r>
                        <a:rPr lang="en-IN" sz="1000" dirty="0"/>
                        <a:t>Approach</a:t>
                      </a:r>
                    </a:p>
                  </a:txBody>
                  <a:tcPr/>
                </a:tc>
                <a:tc>
                  <a:txBody>
                    <a:bodyPr/>
                    <a:lstStyle/>
                    <a:p>
                      <a:r>
                        <a:rPr lang="en-IN" sz="1000" dirty="0"/>
                        <a:t>Remark</a:t>
                      </a:r>
                    </a:p>
                  </a:txBody>
                  <a:tcPr/>
                </a:tc>
                <a:extLst>
                  <a:ext uri="{0D108BD9-81ED-4DB2-BD59-A6C34878D82A}">
                    <a16:rowId xmlns:a16="http://schemas.microsoft.com/office/drawing/2014/main" val="3810008744"/>
                  </a:ext>
                </a:extLst>
              </a:tr>
              <a:tr h="1567959">
                <a:tc>
                  <a:txBody>
                    <a:bodyPr/>
                    <a:lstStyle/>
                    <a:p>
                      <a:r>
                        <a:rPr lang="en-US" sz="900" dirty="0"/>
                        <a:t>3D Object Detection and Tracking Methods using Deep Learning for Computer Vision Applications </a:t>
                      </a:r>
                      <a:endParaRPr lang="en-IN" sz="900" dirty="0"/>
                    </a:p>
                  </a:txBody>
                  <a:tcPr/>
                </a:tc>
                <a:tc>
                  <a:txBody>
                    <a:bodyPr/>
                    <a:lstStyle/>
                    <a:p>
                      <a:r>
                        <a:rPr lang="en-IN" sz="900" dirty="0"/>
                        <a:t>Shreyas E, Manav Hiren Sheth and Mohana, 2021,</a:t>
                      </a:r>
                    </a:p>
                    <a:p>
                      <a:r>
                        <a:rPr lang="en-IN" sz="900" dirty="0"/>
                        <a:t>6th International Conference on Recent Trends on Electronics, Information, Communication &amp; Technology (RTEICT)</a:t>
                      </a:r>
                    </a:p>
                    <a:p>
                      <a:endParaRPr lang="en-IN" sz="900" dirty="0"/>
                    </a:p>
                  </a:txBody>
                  <a:tcPr/>
                </a:tc>
                <a:tc>
                  <a:txBody>
                    <a:bodyPr/>
                    <a:lstStyle/>
                    <a:p>
                      <a:r>
                        <a:rPr lang="en-IN" sz="900" dirty="0"/>
                        <a:t>Graph Neural Network (GNN)</a:t>
                      </a:r>
                    </a:p>
                  </a:txBody>
                  <a:tcPr/>
                </a:tc>
                <a:tc>
                  <a:txBody>
                    <a:bodyPr/>
                    <a:lstStyle/>
                    <a:p>
                      <a:r>
                        <a:rPr lang="en-US" sz="900" dirty="0"/>
                        <a:t>Insights into advanced 3D object detection and tracking methods, highlighting their importance in enhancing depth perception and decision-making for critical applications such as autonomous driving, robotics, and augmented reality</a:t>
                      </a:r>
                      <a:endParaRPr lang="en-IN" sz="900" dirty="0"/>
                    </a:p>
                  </a:txBody>
                  <a:tcPr/>
                </a:tc>
                <a:extLst>
                  <a:ext uri="{0D108BD9-81ED-4DB2-BD59-A6C34878D82A}">
                    <a16:rowId xmlns:a16="http://schemas.microsoft.com/office/drawing/2014/main" val="2359401597"/>
                  </a:ext>
                </a:extLst>
              </a:tr>
              <a:tr h="564744">
                <a:tc>
                  <a:txBody>
                    <a:bodyPr/>
                    <a:lstStyle/>
                    <a:p>
                      <a:r>
                        <a:rPr lang="en-IN" sz="1800" dirty="0">
                          <a:solidFill>
                            <a:schemeClr val="dk1"/>
                          </a:solidFill>
                          <a:effectLst/>
                          <a:latin typeface="+mn-lt"/>
                          <a:ea typeface="+mn-ea"/>
                          <a:cs typeface="+mn-cs"/>
                        </a:rPr>
                        <a:t> </a:t>
                      </a:r>
                    </a:p>
                    <a:p>
                      <a:endParaRPr lang="en-IN" sz="900" dirty="0"/>
                    </a:p>
                  </a:txBody>
                  <a:tcPr/>
                </a:tc>
                <a:tc>
                  <a:txBody>
                    <a:bodyPr/>
                    <a:lstStyle/>
                    <a:p>
                      <a:endParaRPr lang="en-IN" sz="900" dirty="0"/>
                    </a:p>
                  </a:txBody>
                  <a:tcPr/>
                </a:tc>
                <a:tc>
                  <a:txBody>
                    <a:bodyPr/>
                    <a:lstStyle/>
                    <a:p>
                      <a:endParaRPr lang="en-IN" sz="900" dirty="0"/>
                    </a:p>
                  </a:txBody>
                  <a:tcPr/>
                </a:tc>
                <a:tc>
                  <a:txBody>
                    <a:bodyPr/>
                    <a:lstStyle/>
                    <a:p>
                      <a:endParaRPr lang="en-IN" sz="800" dirty="0"/>
                    </a:p>
                  </a:txBody>
                  <a:tcPr/>
                </a:tc>
                <a:extLst>
                  <a:ext uri="{0D108BD9-81ED-4DB2-BD59-A6C34878D82A}">
                    <a16:rowId xmlns:a16="http://schemas.microsoft.com/office/drawing/2014/main" val="3721728066"/>
                  </a:ext>
                </a:extLst>
              </a:tr>
            </a:tbl>
          </a:graphicData>
        </a:graphic>
      </p:graphicFrame>
      <p:grpSp>
        <p:nvGrpSpPr>
          <p:cNvPr id="4" name="object 10">
            <a:extLst>
              <a:ext uri="{FF2B5EF4-FFF2-40B4-BE49-F238E27FC236}">
                <a16:creationId xmlns:a16="http://schemas.microsoft.com/office/drawing/2014/main" id="{246E33A3-4858-EC30-E40A-D4ECCF2D2078}"/>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AE99B57A-E4EB-F11D-BB2D-8D423CEA915B}"/>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FE96537F-42EB-6640-F6B9-3D311396CAA2}"/>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29401845-9C96-6C17-C1CD-186143ECA14E}"/>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2A92A1D5-59AB-1341-ACEE-954239961165}"/>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C08E4717-FAAF-7543-030B-F0385D6DD16D}"/>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2B5E8D87-CE34-2A05-25BF-94413231E7D8}"/>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6" name="object 17">
            <a:extLst>
              <a:ext uri="{FF2B5EF4-FFF2-40B4-BE49-F238E27FC236}">
                <a16:creationId xmlns:a16="http://schemas.microsoft.com/office/drawing/2014/main" id="{B02A609C-0DD4-AA21-02FA-BC064717BCC8}"/>
              </a:ext>
            </a:extLst>
          </p:cNvPr>
          <p:cNvSpPr txBox="1">
            <a:spLocks/>
          </p:cNvSpPr>
          <p:nvPr/>
        </p:nvSpPr>
        <p:spPr>
          <a:xfrm>
            <a:off x="4321883" y="3330575"/>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7</a:t>
            </a:fld>
            <a:r>
              <a:rPr lang="en-IN" spc="-70" dirty="0"/>
              <a:t> </a:t>
            </a:r>
            <a:r>
              <a:rPr lang="en-IN" dirty="0"/>
              <a:t>/</a:t>
            </a:r>
            <a:r>
              <a:rPr lang="en-IN" spc="-65" dirty="0"/>
              <a:t> </a:t>
            </a:r>
            <a:r>
              <a:rPr lang="en-IN" spc="-25" dirty="0"/>
              <a:t>11</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783080" cy="232756"/>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Literature</a:t>
            </a:r>
            <a:r>
              <a:rPr sz="1400" spc="105" dirty="0">
                <a:solidFill>
                  <a:srgbClr val="FFFFFF"/>
                </a:solidFill>
                <a:latin typeface="Arial MT"/>
                <a:cs typeface="Arial MT"/>
              </a:rPr>
              <a:t> </a:t>
            </a:r>
            <a:r>
              <a:rPr sz="1400" spc="-10" dirty="0">
                <a:solidFill>
                  <a:srgbClr val="FFFFFF"/>
                </a:solidFill>
                <a:latin typeface="Arial MT"/>
                <a:cs typeface="Arial MT"/>
              </a:rPr>
              <a:t>Survey(</a:t>
            </a:r>
            <a:r>
              <a:rPr lang="en-IN" sz="1400" spc="-10" dirty="0">
                <a:solidFill>
                  <a:srgbClr val="FFFFFF"/>
                </a:solidFill>
                <a:latin typeface="Arial MT"/>
                <a:cs typeface="Arial MT"/>
              </a:rPr>
              <a:t>2</a:t>
            </a:r>
            <a:r>
              <a:rPr sz="1400" spc="-10" dirty="0">
                <a:solidFill>
                  <a:srgbClr val="FFFFFF"/>
                </a:solidFill>
                <a:latin typeface="Arial MT"/>
                <a:cs typeface="Arial MT"/>
              </a:rPr>
              <a:t>/</a:t>
            </a:r>
            <a:r>
              <a:rPr lang="en-IN" sz="1400" spc="-10" dirty="0">
                <a:solidFill>
                  <a:srgbClr val="FFFFFF"/>
                </a:solidFill>
                <a:latin typeface="Arial MT"/>
                <a:cs typeface="Arial MT"/>
              </a:rPr>
              <a:t>4</a:t>
            </a:r>
            <a:r>
              <a:rPr sz="1400" spc="-10" dirty="0">
                <a:solidFill>
                  <a:srgbClr val="FFFFFF"/>
                </a:solidFill>
                <a:latin typeface="Arial MT"/>
                <a:cs typeface="Arial MT"/>
              </a:rPr>
              <a:t>)</a:t>
            </a:r>
            <a:endParaRPr sz="1400" dirty="0">
              <a:latin typeface="Arial MT"/>
              <a:cs typeface="Arial MT"/>
            </a:endParaRPr>
          </a:p>
        </p:txBody>
      </p:sp>
      <p:sp>
        <p:nvSpPr>
          <p:cNvPr id="5" name="object 5"/>
          <p:cNvSpPr txBox="1"/>
          <p:nvPr/>
        </p:nvSpPr>
        <p:spPr>
          <a:xfrm>
            <a:off x="1570265" y="3033655"/>
            <a:ext cx="1467485" cy="166071"/>
          </a:xfrm>
          <a:prstGeom prst="rect">
            <a:avLst/>
          </a:prstGeom>
        </p:spPr>
        <p:txBody>
          <a:bodyPr vert="horz" wrap="square" lIns="0" tIns="12065" rIns="0" bIns="0" rtlCol="0">
            <a:spAutoFit/>
          </a:bodyPr>
          <a:lstStyle/>
          <a:p>
            <a:pPr marL="12700">
              <a:lnSpc>
                <a:spcPct val="100000"/>
              </a:lnSpc>
              <a:spcBef>
                <a:spcPts val="95"/>
              </a:spcBef>
            </a:pPr>
            <a:r>
              <a:rPr sz="1000" spc="-25" dirty="0">
                <a:latin typeface="Arial MT"/>
                <a:cs typeface="Arial MT"/>
              </a:rPr>
              <a:t>Table </a:t>
            </a:r>
            <a:r>
              <a:rPr lang="en-IN" sz="1000" spc="-25" dirty="0">
                <a:latin typeface="Arial MT"/>
                <a:cs typeface="Arial MT"/>
              </a:rPr>
              <a:t>2</a:t>
            </a:r>
            <a:r>
              <a:rPr sz="1000" dirty="0">
                <a:latin typeface="Arial MT"/>
                <a:cs typeface="Arial MT"/>
              </a:rPr>
              <a:t>:-Literature</a:t>
            </a:r>
            <a:r>
              <a:rPr sz="1000" spc="-20" dirty="0">
                <a:latin typeface="Arial MT"/>
                <a:cs typeface="Arial MT"/>
              </a:rPr>
              <a:t> </a:t>
            </a:r>
            <a:r>
              <a:rPr sz="1000" spc="-10" dirty="0">
                <a:latin typeface="Arial MT"/>
                <a:cs typeface="Arial MT"/>
              </a:rPr>
              <a:t>Survey</a:t>
            </a:r>
            <a:endParaRPr sz="10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8</a:t>
            </a:fld>
            <a:r>
              <a:rPr spc="-70" dirty="0"/>
              <a:t> </a:t>
            </a:r>
            <a:r>
              <a:rPr dirty="0"/>
              <a:t>/</a:t>
            </a:r>
            <a:r>
              <a:rPr spc="-65" dirty="0"/>
              <a:t> </a:t>
            </a:r>
            <a:r>
              <a:rPr spc="-25" dirty="0"/>
              <a:t>15</a:t>
            </a:r>
          </a:p>
        </p:txBody>
      </p:sp>
      <p:graphicFrame>
        <p:nvGraphicFramePr>
          <p:cNvPr id="14" name="Table 14">
            <a:extLst>
              <a:ext uri="{FF2B5EF4-FFF2-40B4-BE49-F238E27FC236}">
                <a16:creationId xmlns:a16="http://schemas.microsoft.com/office/drawing/2014/main" id="{11C976C2-94EB-9C01-B2B6-92613589EB01}"/>
              </a:ext>
            </a:extLst>
          </p:cNvPr>
          <p:cNvGraphicFramePr>
            <a:graphicFrameLocks noGrp="1"/>
          </p:cNvGraphicFramePr>
          <p:nvPr>
            <p:extLst>
              <p:ext uri="{D42A27DB-BD31-4B8C-83A1-F6EECF244321}">
                <p14:modId xmlns:p14="http://schemas.microsoft.com/office/powerpoint/2010/main" val="3737323421"/>
              </p:ext>
            </p:extLst>
          </p:nvPr>
        </p:nvGraphicFramePr>
        <p:xfrm>
          <a:off x="0" y="308110"/>
          <a:ext cx="4610100" cy="3581400"/>
        </p:xfrm>
        <a:graphic>
          <a:graphicData uri="http://schemas.openxmlformats.org/drawingml/2006/table">
            <a:tbl>
              <a:tblPr firstRow="1" bandRow="1">
                <a:tableStyleId>{5C22544A-7EE6-4342-B048-85BDC9FD1C3A}</a:tableStyleId>
              </a:tblPr>
              <a:tblGrid>
                <a:gridCol w="714774">
                  <a:extLst>
                    <a:ext uri="{9D8B030D-6E8A-4147-A177-3AD203B41FA5}">
                      <a16:colId xmlns:a16="http://schemas.microsoft.com/office/drawing/2014/main" val="1343165491"/>
                    </a:ext>
                  </a:extLst>
                </a:gridCol>
                <a:gridCol w="1672277">
                  <a:extLst>
                    <a:ext uri="{9D8B030D-6E8A-4147-A177-3AD203B41FA5}">
                      <a16:colId xmlns:a16="http://schemas.microsoft.com/office/drawing/2014/main" val="1670241405"/>
                    </a:ext>
                  </a:extLst>
                </a:gridCol>
                <a:gridCol w="1025834">
                  <a:extLst>
                    <a:ext uri="{9D8B030D-6E8A-4147-A177-3AD203B41FA5}">
                      <a16:colId xmlns:a16="http://schemas.microsoft.com/office/drawing/2014/main" val="1410617974"/>
                    </a:ext>
                  </a:extLst>
                </a:gridCol>
                <a:gridCol w="1197215">
                  <a:extLst>
                    <a:ext uri="{9D8B030D-6E8A-4147-A177-3AD203B41FA5}">
                      <a16:colId xmlns:a16="http://schemas.microsoft.com/office/drawing/2014/main" val="959990106"/>
                    </a:ext>
                  </a:extLst>
                </a:gridCol>
              </a:tblGrid>
              <a:tr h="196876">
                <a:tc>
                  <a:txBody>
                    <a:bodyPr/>
                    <a:lstStyle/>
                    <a:p>
                      <a:r>
                        <a:rPr lang="en-IN" sz="900" dirty="0"/>
                        <a:t>        </a:t>
                      </a:r>
                      <a:r>
                        <a:rPr lang="en-IN" sz="1000" dirty="0"/>
                        <a:t>Title</a:t>
                      </a:r>
                    </a:p>
                  </a:txBody>
                  <a:tcPr/>
                </a:tc>
                <a:tc>
                  <a:txBody>
                    <a:bodyPr/>
                    <a:lstStyle/>
                    <a:p>
                      <a:r>
                        <a:rPr lang="en-IN" sz="1000" dirty="0"/>
                        <a:t>Author, Year, Publication</a:t>
                      </a:r>
                    </a:p>
                  </a:txBody>
                  <a:tcPr/>
                </a:tc>
                <a:tc>
                  <a:txBody>
                    <a:bodyPr/>
                    <a:lstStyle/>
                    <a:p>
                      <a:r>
                        <a:rPr lang="en-IN" sz="1000" dirty="0"/>
                        <a:t>Approach</a:t>
                      </a:r>
                    </a:p>
                  </a:txBody>
                  <a:tcPr/>
                </a:tc>
                <a:tc>
                  <a:txBody>
                    <a:bodyPr/>
                    <a:lstStyle/>
                    <a:p>
                      <a:r>
                        <a:rPr lang="en-IN" sz="1000" dirty="0"/>
                        <a:t>Remark</a:t>
                      </a:r>
                    </a:p>
                  </a:txBody>
                  <a:tcPr/>
                </a:tc>
                <a:extLst>
                  <a:ext uri="{0D108BD9-81ED-4DB2-BD59-A6C34878D82A}">
                    <a16:rowId xmlns:a16="http://schemas.microsoft.com/office/drawing/2014/main" val="3810008744"/>
                  </a:ext>
                </a:extLst>
              </a:tr>
              <a:tr h="2288683">
                <a:tc>
                  <a:txBody>
                    <a:bodyPr/>
                    <a:lstStyle/>
                    <a:p>
                      <a:r>
                        <a:rPr lang="en-US" sz="900" dirty="0"/>
                        <a:t>Review of deep learning: concepts, CNN architectures, challenges, applications, future directions</a:t>
                      </a:r>
                      <a:endParaRPr lang="en-IN" sz="900" dirty="0"/>
                    </a:p>
                  </a:txBody>
                  <a:tcPr/>
                </a:tc>
                <a:tc>
                  <a:txBody>
                    <a:bodyPr/>
                    <a:lstStyle/>
                    <a:p>
                      <a:r>
                        <a:rPr lang="en-IN" sz="900" dirty="0"/>
                        <a:t>Laith Alzubaidi1,5* , </a:t>
                      </a:r>
                      <a:r>
                        <a:rPr lang="en-IN" sz="900" dirty="0" err="1"/>
                        <a:t>Jinglan</a:t>
                      </a:r>
                      <a:r>
                        <a:rPr lang="en-IN" sz="900" dirty="0"/>
                        <a:t> Zhang1, Amjad J. Humaidi2, Ayad Al‑Dujaili3, Ye Duan4, </a:t>
                      </a:r>
                      <a:r>
                        <a:rPr lang="en-IN" sz="900" dirty="0" err="1"/>
                        <a:t>Omran</a:t>
                      </a:r>
                      <a:r>
                        <a:rPr lang="en-IN" sz="900" dirty="0"/>
                        <a:t> Al‑Shamma5, J. Santamaría6, Mohammed A. Fadhel7, </a:t>
                      </a:r>
                      <a:r>
                        <a:rPr lang="en-IN" sz="900" dirty="0" err="1"/>
                        <a:t>Muthana</a:t>
                      </a:r>
                      <a:r>
                        <a:rPr lang="en-IN" sz="900" dirty="0"/>
                        <a:t> Al‑Amidie4 and Laith Farhan8 , 2021,</a:t>
                      </a:r>
                      <a:r>
                        <a:rPr lang="en-US" sz="900" dirty="0"/>
                        <a:t> Queensland University of Technology and the University of Information Technology and Communications</a:t>
                      </a:r>
                      <a:endParaRPr lang="en-IN" sz="900" dirty="0"/>
                    </a:p>
                  </a:txBody>
                  <a:tcPr/>
                </a:tc>
                <a:tc>
                  <a:txBody>
                    <a:bodyPr/>
                    <a:lstStyle/>
                    <a:p>
                      <a:r>
                        <a:rPr lang="en-IN" sz="900" dirty="0"/>
                        <a:t>CNN</a:t>
                      </a:r>
                    </a:p>
                    <a:p>
                      <a:r>
                        <a:rPr lang="en-IN" sz="900" dirty="0"/>
                        <a:t>( Convolution Neural</a:t>
                      </a:r>
                    </a:p>
                    <a:p>
                      <a:r>
                        <a:rPr lang="en-IN" sz="900" dirty="0"/>
                        <a:t>Network)</a:t>
                      </a:r>
                    </a:p>
                    <a:p>
                      <a:endParaRPr lang="en-IN" sz="900"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dirty="0"/>
                        <a:t>Object detection</a:t>
                      </a:r>
                      <a:r>
                        <a:rPr lang="en-US" sz="900" dirty="0"/>
                        <a:t> locates and classifies objects in an image using bounding boxes, making it fast and suitable for tasks like surveillance, face detection, and autonomous driving.</a:t>
                      </a:r>
                      <a:br>
                        <a:rPr lang="en-US" sz="900" dirty="0"/>
                      </a:br>
                      <a:r>
                        <a:rPr lang="en-US" sz="900" b="1" dirty="0"/>
                        <a:t>Image segmentation</a:t>
                      </a:r>
                      <a:r>
                        <a:rPr lang="en-US" sz="900" dirty="0"/>
                        <a:t> classifies each pixel in an image to provide more detailed region-based understanding, useful in applications like medical imaging, AR, and scene analysis.</a:t>
                      </a:r>
                    </a:p>
                    <a:p>
                      <a:endParaRPr lang="en-IN" sz="900" dirty="0"/>
                    </a:p>
                  </a:txBody>
                  <a:tcPr/>
                </a:tc>
                <a:extLst>
                  <a:ext uri="{0D108BD9-81ED-4DB2-BD59-A6C34878D82A}">
                    <a16:rowId xmlns:a16="http://schemas.microsoft.com/office/drawing/2014/main" val="2359401597"/>
                  </a:ext>
                </a:extLst>
              </a:tr>
              <a:tr h="406057">
                <a:tc>
                  <a:txBody>
                    <a:bodyPr/>
                    <a:lstStyle/>
                    <a:p>
                      <a:r>
                        <a:rPr lang="en-IN" sz="1800" dirty="0">
                          <a:solidFill>
                            <a:schemeClr val="dk1"/>
                          </a:solidFill>
                          <a:effectLst/>
                          <a:latin typeface="+mn-lt"/>
                          <a:ea typeface="+mn-ea"/>
                          <a:cs typeface="+mn-cs"/>
                        </a:rPr>
                        <a:t> </a:t>
                      </a:r>
                    </a:p>
                    <a:p>
                      <a:endParaRPr lang="en-IN" sz="900" dirty="0"/>
                    </a:p>
                  </a:txBody>
                  <a:tcPr/>
                </a:tc>
                <a:tc>
                  <a:txBody>
                    <a:bodyPr/>
                    <a:lstStyle/>
                    <a:p>
                      <a:endParaRPr lang="en-IN" sz="900" dirty="0"/>
                    </a:p>
                  </a:txBody>
                  <a:tcPr/>
                </a:tc>
                <a:tc>
                  <a:txBody>
                    <a:bodyPr/>
                    <a:lstStyle/>
                    <a:p>
                      <a:endParaRPr lang="en-IN" sz="900" dirty="0"/>
                    </a:p>
                  </a:txBody>
                  <a:tcPr/>
                </a:tc>
                <a:tc>
                  <a:txBody>
                    <a:bodyPr/>
                    <a:lstStyle/>
                    <a:p>
                      <a:endParaRPr lang="en-IN" sz="800" dirty="0"/>
                    </a:p>
                  </a:txBody>
                  <a:tcPr/>
                </a:tc>
                <a:extLst>
                  <a:ext uri="{0D108BD9-81ED-4DB2-BD59-A6C34878D82A}">
                    <a16:rowId xmlns:a16="http://schemas.microsoft.com/office/drawing/2014/main" val="3721728066"/>
                  </a:ext>
                </a:extLst>
              </a:tr>
            </a:tbl>
          </a:graphicData>
        </a:graphic>
      </p:graphicFrame>
      <p:grpSp>
        <p:nvGrpSpPr>
          <p:cNvPr id="4" name="object 10">
            <a:extLst>
              <a:ext uri="{FF2B5EF4-FFF2-40B4-BE49-F238E27FC236}">
                <a16:creationId xmlns:a16="http://schemas.microsoft.com/office/drawing/2014/main" id="{246E33A3-4858-EC30-E40A-D4ECCF2D2078}"/>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AE99B57A-E4EB-F11D-BB2D-8D423CEA915B}"/>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FE96537F-42EB-6640-F6B9-3D311396CAA2}"/>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29401845-9C96-6C17-C1CD-186143ECA14E}"/>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2A92A1D5-59AB-1341-ACEE-954239961165}"/>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C08E4717-FAAF-7543-030B-F0385D6DD16D}"/>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2B5E8D87-CE34-2A05-25BF-94413231E7D8}"/>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6" name="object 17">
            <a:extLst>
              <a:ext uri="{FF2B5EF4-FFF2-40B4-BE49-F238E27FC236}">
                <a16:creationId xmlns:a16="http://schemas.microsoft.com/office/drawing/2014/main" id="{B02A609C-0DD4-AA21-02FA-BC064717BCC8}"/>
              </a:ext>
            </a:extLst>
          </p:cNvPr>
          <p:cNvSpPr txBox="1">
            <a:spLocks/>
          </p:cNvSpPr>
          <p:nvPr/>
        </p:nvSpPr>
        <p:spPr>
          <a:xfrm>
            <a:off x="4321883" y="3330575"/>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8</a:t>
            </a:fld>
            <a:r>
              <a:rPr lang="en-IN" spc="-70" dirty="0"/>
              <a:t> </a:t>
            </a:r>
            <a:r>
              <a:rPr lang="en-IN" dirty="0"/>
              <a:t>/</a:t>
            </a:r>
            <a:r>
              <a:rPr lang="en-IN" spc="-65" dirty="0"/>
              <a:t> </a:t>
            </a:r>
            <a:r>
              <a:rPr lang="en-IN" spc="-25" dirty="0"/>
              <a:t>11</a:t>
            </a:r>
          </a:p>
        </p:txBody>
      </p:sp>
    </p:spTree>
    <p:extLst>
      <p:ext uri="{BB962C8B-B14F-4D97-AF65-F5344CB8AC3E}">
        <p14:creationId xmlns:p14="http://schemas.microsoft.com/office/powerpoint/2010/main" val="2500672205"/>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783080" cy="232756"/>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Literature</a:t>
            </a:r>
            <a:r>
              <a:rPr sz="1400" spc="105" dirty="0">
                <a:solidFill>
                  <a:srgbClr val="FFFFFF"/>
                </a:solidFill>
                <a:latin typeface="Arial MT"/>
                <a:cs typeface="Arial MT"/>
              </a:rPr>
              <a:t> </a:t>
            </a:r>
            <a:r>
              <a:rPr sz="1400" spc="-10" dirty="0">
                <a:solidFill>
                  <a:srgbClr val="FFFFFF"/>
                </a:solidFill>
                <a:latin typeface="Arial MT"/>
                <a:cs typeface="Arial MT"/>
              </a:rPr>
              <a:t>Survey(</a:t>
            </a:r>
            <a:r>
              <a:rPr lang="en-IN" sz="1400" spc="-10" dirty="0">
                <a:solidFill>
                  <a:srgbClr val="FFFFFF"/>
                </a:solidFill>
                <a:latin typeface="Arial MT"/>
                <a:cs typeface="Arial MT"/>
              </a:rPr>
              <a:t>4/4</a:t>
            </a:r>
            <a:r>
              <a:rPr sz="1400" spc="-10" dirty="0">
                <a:solidFill>
                  <a:srgbClr val="FFFFFF"/>
                </a:solidFill>
                <a:latin typeface="Arial MT"/>
                <a:cs typeface="Arial MT"/>
              </a:rPr>
              <a:t>)</a:t>
            </a:r>
            <a:endParaRPr sz="1400" dirty="0">
              <a:latin typeface="Arial MT"/>
              <a:cs typeface="Arial MT"/>
            </a:endParaRPr>
          </a:p>
        </p:txBody>
      </p:sp>
      <p:sp>
        <p:nvSpPr>
          <p:cNvPr id="5" name="object 5"/>
          <p:cNvSpPr txBox="1"/>
          <p:nvPr/>
        </p:nvSpPr>
        <p:spPr>
          <a:xfrm>
            <a:off x="1570265" y="3123420"/>
            <a:ext cx="1467485"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Arial MT"/>
                <a:cs typeface="Arial MT"/>
              </a:rPr>
              <a:t>Table </a:t>
            </a:r>
            <a:r>
              <a:rPr sz="1000" dirty="0">
                <a:latin typeface="Arial MT"/>
                <a:cs typeface="Arial MT"/>
              </a:rPr>
              <a:t>1:-Literature</a:t>
            </a:r>
            <a:r>
              <a:rPr sz="1000" spc="-20" dirty="0">
                <a:latin typeface="Arial MT"/>
                <a:cs typeface="Arial MT"/>
              </a:rPr>
              <a:t> </a:t>
            </a:r>
            <a:r>
              <a:rPr sz="1000" spc="-10" dirty="0">
                <a:latin typeface="Arial MT"/>
                <a:cs typeface="Arial MT"/>
              </a:rPr>
              <a:t>Survey</a:t>
            </a:r>
            <a:endParaRPr sz="10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9</a:t>
            </a:fld>
            <a:r>
              <a:rPr spc="-70" dirty="0"/>
              <a:t> </a:t>
            </a:r>
            <a:r>
              <a:rPr dirty="0"/>
              <a:t>/</a:t>
            </a:r>
            <a:r>
              <a:rPr spc="-65" dirty="0"/>
              <a:t> </a:t>
            </a:r>
            <a:r>
              <a:rPr spc="-25" dirty="0"/>
              <a:t>15</a:t>
            </a:r>
          </a:p>
        </p:txBody>
      </p:sp>
      <p:graphicFrame>
        <p:nvGraphicFramePr>
          <p:cNvPr id="14" name="Table 14">
            <a:extLst>
              <a:ext uri="{FF2B5EF4-FFF2-40B4-BE49-F238E27FC236}">
                <a16:creationId xmlns:a16="http://schemas.microsoft.com/office/drawing/2014/main" id="{8A88D47A-9F8A-B99E-7A02-7183DB6AB5ED}"/>
              </a:ext>
            </a:extLst>
          </p:cNvPr>
          <p:cNvGraphicFramePr>
            <a:graphicFrameLocks noGrp="1"/>
          </p:cNvGraphicFramePr>
          <p:nvPr>
            <p:extLst>
              <p:ext uri="{D42A27DB-BD31-4B8C-83A1-F6EECF244321}">
                <p14:modId xmlns:p14="http://schemas.microsoft.com/office/powerpoint/2010/main" val="3530151570"/>
              </p:ext>
            </p:extLst>
          </p:nvPr>
        </p:nvGraphicFramePr>
        <p:xfrm>
          <a:off x="1" y="308109"/>
          <a:ext cx="4629972" cy="3185160"/>
        </p:xfrm>
        <a:graphic>
          <a:graphicData uri="http://schemas.openxmlformats.org/drawingml/2006/table">
            <a:tbl>
              <a:tblPr firstRow="1" bandRow="1">
                <a:tableStyleId>{5C22544A-7EE6-4342-B048-85BDC9FD1C3A}</a:tableStyleId>
              </a:tblPr>
              <a:tblGrid>
                <a:gridCol w="1016545">
                  <a:extLst>
                    <a:ext uri="{9D8B030D-6E8A-4147-A177-3AD203B41FA5}">
                      <a16:colId xmlns:a16="http://schemas.microsoft.com/office/drawing/2014/main" val="1343165491"/>
                    </a:ext>
                  </a:extLst>
                </a:gridCol>
                <a:gridCol w="1227527">
                  <a:extLst>
                    <a:ext uri="{9D8B030D-6E8A-4147-A177-3AD203B41FA5}">
                      <a16:colId xmlns:a16="http://schemas.microsoft.com/office/drawing/2014/main" val="1670241405"/>
                    </a:ext>
                  </a:extLst>
                </a:gridCol>
                <a:gridCol w="690483">
                  <a:extLst>
                    <a:ext uri="{9D8B030D-6E8A-4147-A177-3AD203B41FA5}">
                      <a16:colId xmlns:a16="http://schemas.microsoft.com/office/drawing/2014/main" val="1410617974"/>
                    </a:ext>
                  </a:extLst>
                </a:gridCol>
                <a:gridCol w="1695417">
                  <a:extLst>
                    <a:ext uri="{9D8B030D-6E8A-4147-A177-3AD203B41FA5}">
                      <a16:colId xmlns:a16="http://schemas.microsoft.com/office/drawing/2014/main" val="959990106"/>
                    </a:ext>
                  </a:extLst>
                </a:gridCol>
              </a:tblGrid>
              <a:tr h="386526">
                <a:tc>
                  <a:txBody>
                    <a:bodyPr/>
                    <a:lstStyle/>
                    <a:p>
                      <a:r>
                        <a:rPr lang="en-IN" sz="900" dirty="0"/>
                        <a:t>        </a:t>
                      </a:r>
                      <a:r>
                        <a:rPr lang="en-IN" sz="1000" dirty="0"/>
                        <a:t>Title</a:t>
                      </a:r>
                    </a:p>
                  </a:txBody>
                  <a:tcPr/>
                </a:tc>
                <a:tc>
                  <a:txBody>
                    <a:bodyPr/>
                    <a:lstStyle/>
                    <a:p>
                      <a:r>
                        <a:rPr lang="en-IN" sz="1000" dirty="0"/>
                        <a:t>Author, Year, Publication</a:t>
                      </a:r>
                    </a:p>
                  </a:txBody>
                  <a:tcPr/>
                </a:tc>
                <a:tc>
                  <a:txBody>
                    <a:bodyPr/>
                    <a:lstStyle/>
                    <a:p>
                      <a:r>
                        <a:rPr lang="en-IN" sz="1000" dirty="0"/>
                        <a:t>Approach</a:t>
                      </a:r>
                    </a:p>
                  </a:txBody>
                  <a:tcPr/>
                </a:tc>
                <a:tc>
                  <a:txBody>
                    <a:bodyPr/>
                    <a:lstStyle/>
                    <a:p>
                      <a:r>
                        <a:rPr lang="en-IN" sz="1000" dirty="0"/>
                        <a:t>Remark</a:t>
                      </a:r>
                    </a:p>
                  </a:txBody>
                  <a:tcPr/>
                </a:tc>
                <a:extLst>
                  <a:ext uri="{0D108BD9-81ED-4DB2-BD59-A6C34878D82A}">
                    <a16:rowId xmlns:a16="http://schemas.microsoft.com/office/drawing/2014/main" val="3810008744"/>
                  </a:ext>
                </a:extLst>
              </a:tr>
              <a:tr h="1560971">
                <a:tc>
                  <a:txBody>
                    <a:bodyPr/>
                    <a:lstStyle/>
                    <a:p>
                      <a:r>
                        <a:rPr lang="en-US" sz="900" dirty="0"/>
                        <a:t>An application of a deep learning algorithm for automatic detection of unexpected accidents under bad CCTV monitoring conditions in tunnels</a:t>
                      </a:r>
                      <a:endParaRPr lang="en-IN" sz="900" dirty="0"/>
                    </a:p>
                  </a:txBody>
                  <a:tcPr/>
                </a:tc>
                <a:tc>
                  <a:txBody>
                    <a:bodyPr/>
                    <a:lstStyle/>
                    <a:p>
                      <a:r>
                        <a:rPr lang="en-IN" sz="900" b="0" i="0" u="none" dirty="0">
                          <a:solidFill>
                            <a:schemeClr val="tx1"/>
                          </a:solidFill>
                          <a:effectLst/>
                          <a:latin typeface="+mn-lt"/>
                          <a:ea typeface="+mn-ea"/>
                          <a:cs typeface="+mn-cs"/>
                        </a:rPr>
                        <a:t>Kyu</a:t>
                      </a:r>
                      <a:r>
                        <a:rPr lang="en-IN" sz="900" b="0" i="0" u="sng" dirty="0">
                          <a:solidFill>
                            <a:schemeClr val="dk1"/>
                          </a:solidFill>
                          <a:effectLst/>
                          <a:latin typeface="+mn-lt"/>
                          <a:ea typeface="+mn-ea"/>
                          <a:cs typeface="+mn-cs"/>
                        </a:rPr>
                        <a:t> </a:t>
                      </a:r>
                      <a:r>
                        <a:rPr lang="en-IN" sz="900" b="0" i="0" u="none" dirty="0">
                          <a:solidFill>
                            <a:schemeClr val="dk1"/>
                          </a:solidFill>
                          <a:effectLst/>
                          <a:latin typeface="+mn-lt"/>
                          <a:ea typeface="+mn-ea"/>
                          <a:cs typeface="+mn-cs"/>
                        </a:rPr>
                        <a:t>Beom</a:t>
                      </a:r>
                      <a:r>
                        <a:rPr lang="en-IN" sz="900" b="0" i="0" u="sng" dirty="0">
                          <a:solidFill>
                            <a:schemeClr val="dk1"/>
                          </a:solidFill>
                          <a:effectLst/>
                          <a:latin typeface="+mn-lt"/>
                          <a:ea typeface="+mn-ea"/>
                          <a:cs typeface="+mn-cs"/>
                        </a:rPr>
                        <a:t> </a:t>
                      </a:r>
                      <a:r>
                        <a:rPr lang="en-IN" sz="900" b="0" i="0" u="none" dirty="0">
                          <a:solidFill>
                            <a:schemeClr val="dk1"/>
                          </a:solidFill>
                          <a:effectLst/>
                          <a:latin typeface="+mn-lt"/>
                          <a:ea typeface="+mn-ea"/>
                          <a:cs typeface="+mn-cs"/>
                        </a:rPr>
                        <a:t>Lee</a:t>
                      </a:r>
                      <a:r>
                        <a:rPr lang="en-IN" sz="900" b="0" i="0" u="sng" dirty="0">
                          <a:solidFill>
                            <a:schemeClr val="dk1"/>
                          </a:solidFill>
                          <a:effectLst/>
                          <a:latin typeface="+mn-lt"/>
                          <a:ea typeface="+mn-ea"/>
                          <a:cs typeface="+mn-cs"/>
                        </a:rPr>
                        <a:t> </a:t>
                      </a:r>
                      <a:r>
                        <a:rPr lang="en-IN" sz="900" b="0" i="0" u="none" dirty="0">
                          <a:solidFill>
                            <a:schemeClr val="dk1"/>
                          </a:solidFill>
                          <a:effectLst/>
                          <a:latin typeface="+mn-lt"/>
                          <a:ea typeface="+mn-ea"/>
                          <a:cs typeface="+mn-cs"/>
                        </a:rPr>
                        <a:t>and</a:t>
                      </a:r>
                      <a:r>
                        <a:rPr lang="en-IN" sz="900" b="0" i="0" u="sng" dirty="0">
                          <a:solidFill>
                            <a:schemeClr val="dk1"/>
                          </a:solidFill>
                          <a:effectLst/>
                          <a:latin typeface="+mn-lt"/>
                          <a:ea typeface="+mn-ea"/>
                          <a:cs typeface="+mn-cs"/>
                        </a:rPr>
                        <a:t> </a:t>
                      </a:r>
                      <a:r>
                        <a:rPr lang="en-IN" sz="900" b="0" i="0" u="none" strike="noStrike" dirty="0">
                          <a:solidFill>
                            <a:schemeClr val="dk1"/>
                          </a:solidFill>
                          <a:effectLst/>
                          <a:latin typeface="+mn-lt"/>
                          <a:ea typeface="+mn-ea"/>
                          <a:cs typeface="+mn-cs"/>
                        </a:rPr>
                        <a:t>Hyu Soung Shin</a:t>
                      </a:r>
                      <a:r>
                        <a:rPr lang="it-IT" sz="900" dirty="0"/>
                        <a:t>, 2019,</a:t>
                      </a:r>
                      <a:r>
                        <a:rPr lang="en-US" sz="900" dirty="0"/>
                        <a:t> International Conference on Deep Learning and Machine Learning in Emerging Applications (Deep-ML)</a:t>
                      </a:r>
                      <a:endParaRPr lang="en-IN" sz="900" dirty="0"/>
                    </a:p>
                  </a:txBody>
                  <a:tcPr/>
                </a:tc>
                <a:tc>
                  <a:txBody>
                    <a:bodyPr/>
                    <a:lstStyle/>
                    <a:p>
                      <a:r>
                        <a:rPr lang="en-IN" sz="900" dirty="0"/>
                        <a:t>Faster </a:t>
                      </a:r>
                    </a:p>
                    <a:p>
                      <a:r>
                        <a:rPr lang="en-IN" sz="900" dirty="0"/>
                        <a:t>R-CNN</a:t>
                      </a:r>
                    </a:p>
                    <a:p>
                      <a:r>
                        <a:rPr lang="en-IN" sz="900" dirty="0"/>
                        <a:t>(Regional Convolution Neural</a:t>
                      </a:r>
                    </a:p>
                    <a:p>
                      <a:r>
                        <a:rPr lang="en-IN" sz="900" dirty="0"/>
                        <a:t>Network)</a:t>
                      </a:r>
                    </a:p>
                  </a:txBody>
                  <a:tcPr/>
                </a:tc>
                <a:tc>
                  <a:txBody>
                    <a:bodyPr/>
                    <a:lstStyle/>
                    <a:p>
                      <a:r>
                        <a:rPr lang="en-US" sz="900" dirty="0"/>
                        <a:t>The deep learning model in ODTS will be trained on a dataset of tunnel event images, enabling it to learn patterns effectively and enhance the accuracy of accident prediction</a:t>
                      </a:r>
                      <a:endParaRPr lang="en-IN" sz="900" dirty="0"/>
                    </a:p>
                  </a:txBody>
                  <a:tcPr/>
                </a:tc>
                <a:extLst>
                  <a:ext uri="{0D108BD9-81ED-4DB2-BD59-A6C34878D82A}">
                    <a16:rowId xmlns:a16="http://schemas.microsoft.com/office/drawing/2014/main" val="2359401597"/>
                  </a:ext>
                </a:extLst>
              </a:tr>
              <a:tr h="1159579">
                <a:tc>
                  <a:txBody>
                    <a:bodyPr/>
                    <a:lstStyle/>
                    <a:p>
                      <a:r>
                        <a:rPr lang="en-US" sz="900" dirty="0"/>
                        <a:t>Object Detection and Count of Objects in Image using Tensor Flow Object Detection API</a:t>
                      </a:r>
                      <a:endParaRPr lang="en-IN" sz="900" dirty="0"/>
                    </a:p>
                  </a:txBody>
                  <a:tcPr/>
                </a:tc>
                <a:tc>
                  <a:txBody>
                    <a:bodyPr/>
                    <a:lstStyle/>
                    <a:p>
                      <a:r>
                        <a:rPr lang="en-IN" sz="900" dirty="0"/>
                        <a:t>B N Krishna Sai And Sasikala T. </a:t>
                      </a:r>
                      <a:r>
                        <a:rPr lang="da-DK" sz="900" dirty="0"/>
                        <a:t>, 2019, </a:t>
                      </a:r>
                      <a:r>
                        <a:rPr lang="en-US" sz="900" b="0" i="0" u="none" dirty="0">
                          <a:solidFill>
                            <a:schemeClr val="dk1"/>
                          </a:solidFill>
                          <a:effectLst/>
                          <a:latin typeface="+mn-lt"/>
                          <a:ea typeface="+mn-ea"/>
                          <a:cs typeface="+mn-cs"/>
                        </a:rPr>
                        <a:t>International Conference on Smart Systems and Inventive Technology (ICSSIT)</a:t>
                      </a:r>
                      <a:endParaRPr lang="en-IN" sz="900" u="none" dirty="0"/>
                    </a:p>
                  </a:txBody>
                  <a:tcPr/>
                </a:tc>
                <a:tc>
                  <a:txBody>
                    <a:bodyPr/>
                    <a:lstStyle/>
                    <a:p>
                      <a:r>
                        <a:rPr lang="en-IN" sz="900" dirty="0"/>
                        <a:t>Tensor Flow Object Detection API and Faster </a:t>
                      </a:r>
                    </a:p>
                    <a:p>
                      <a:r>
                        <a:rPr lang="en-IN" sz="900" dirty="0"/>
                        <a:t>R-CNN</a:t>
                      </a:r>
                    </a:p>
                    <a:p>
                      <a:endParaRPr lang="en-IN" sz="900" dirty="0"/>
                    </a:p>
                  </a:txBody>
                  <a:tcPr/>
                </a:tc>
                <a:tc>
                  <a:txBody>
                    <a:bodyPr/>
                    <a:lstStyle/>
                    <a:p>
                      <a:r>
                        <a:rPr lang="en-US" sz="900" dirty="0"/>
                        <a:t>demonstrates the use of TensorFlow’s Object Detection API with Faster R-CNN to effectively detect and classify threatening objects, showcasing its potential in enhancing safety and security applications.</a:t>
                      </a:r>
                      <a:endParaRPr lang="en-IN" sz="900" dirty="0"/>
                    </a:p>
                  </a:txBody>
                  <a:tcPr/>
                </a:tc>
                <a:extLst>
                  <a:ext uri="{0D108BD9-81ED-4DB2-BD59-A6C34878D82A}">
                    <a16:rowId xmlns:a16="http://schemas.microsoft.com/office/drawing/2014/main" val="3721728066"/>
                  </a:ext>
                </a:extLst>
              </a:tr>
            </a:tbl>
          </a:graphicData>
        </a:graphic>
      </p:graphicFrame>
      <p:grpSp>
        <p:nvGrpSpPr>
          <p:cNvPr id="4" name="object 10">
            <a:extLst>
              <a:ext uri="{FF2B5EF4-FFF2-40B4-BE49-F238E27FC236}">
                <a16:creationId xmlns:a16="http://schemas.microsoft.com/office/drawing/2014/main" id="{D1C4A04C-C1EB-BD01-075C-F0900A21F543}"/>
              </a:ext>
            </a:extLst>
          </p:cNvPr>
          <p:cNvGrpSpPr/>
          <p:nvPr/>
        </p:nvGrpSpPr>
        <p:grpSpPr>
          <a:xfrm>
            <a:off x="31407" y="3334447"/>
            <a:ext cx="4598566" cy="126303"/>
            <a:chOff x="0" y="3326968"/>
            <a:chExt cx="4608017" cy="129539"/>
          </a:xfrm>
        </p:grpSpPr>
        <p:sp>
          <p:nvSpPr>
            <p:cNvPr id="15" name="object 11">
              <a:extLst>
                <a:ext uri="{FF2B5EF4-FFF2-40B4-BE49-F238E27FC236}">
                  <a16:creationId xmlns:a16="http://schemas.microsoft.com/office/drawing/2014/main" id="{755E6CA3-FF9D-F04D-0E30-3520A7F2DBBB}"/>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730AF2E4-0ABE-401F-394F-A3334D69C14E}"/>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9506A655-127C-DF4F-D638-450D7858ACD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3BE029C3-557F-13C1-C287-DC35C4C5AF6D}"/>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2AE3F928-C2BE-5954-598D-F722CFBDA0D4}"/>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F527371C-F6A2-F303-9E03-A36D3EAF021A}"/>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1" name="object 17">
            <a:extLst>
              <a:ext uri="{FF2B5EF4-FFF2-40B4-BE49-F238E27FC236}">
                <a16:creationId xmlns:a16="http://schemas.microsoft.com/office/drawing/2014/main" id="{28C0C791-562B-0700-177A-5F6E2AE94C73}"/>
              </a:ext>
            </a:extLst>
          </p:cNvPr>
          <p:cNvSpPr txBox="1">
            <a:spLocks/>
          </p:cNvSpPr>
          <p:nvPr/>
        </p:nvSpPr>
        <p:spPr>
          <a:xfrm>
            <a:off x="4314035" y="3331252"/>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9</a:t>
            </a:fld>
            <a:r>
              <a:rPr lang="en-IN" spc="-70" dirty="0"/>
              <a:t> </a:t>
            </a:r>
            <a:r>
              <a:rPr lang="en-IN" dirty="0"/>
              <a:t>/</a:t>
            </a:r>
            <a:r>
              <a:rPr lang="en-IN" spc="-65" dirty="0"/>
              <a:t> </a:t>
            </a:r>
            <a:r>
              <a:rPr lang="en-IN" spc="-25" dirty="0"/>
              <a:t>11</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793239" cy="232756"/>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Objectives</a:t>
            </a:r>
            <a:endParaRPr sz="1400" dirty="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4" name="object 14"/>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5" name="object 15"/>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6" name="object 1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10</a:t>
            </a:fld>
            <a:r>
              <a:rPr spc="-70" dirty="0"/>
              <a:t> </a:t>
            </a:r>
            <a:r>
              <a:rPr dirty="0"/>
              <a:t>/</a:t>
            </a:r>
            <a:r>
              <a:rPr spc="-65" dirty="0"/>
              <a:t> </a:t>
            </a:r>
            <a:r>
              <a:rPr spc="-25" dirty="0"/>
              <a:t>15</a:t>
            </a:r>
          </a:p>
        </p:txBody>
      </p:sp>
      <p:grpSp>
        <p:nvGrpSpPr>
          <p:cNvPr id="5" name="object 10">
            <a:extLst>
              <a:ext uri="{FF2B5EF4-FFF2-40B4-BE49-F238E27FC236}">
                <a16:creationId xmlns:a16="http://schemas.microsoft.com/office/drawing/2014/main" id="{08091A54-323A-9920-3E94-AC9C78019577}"/>
              </a:ext>
            </a:extLst>
          </p:cNvPr>
          <p:cNvGrpSpPr/>
          <p:nvPr/>
        </p:nvGrpSpPr>
        <p:grpSpPr>
          <a:xfrm>
            <a:off x="0" y="3328394"/>
            <a:ext cx="4598566" cy="126303"/>
            <a:chOff x="0" y="3326968"/>
            <a:chExt cx="4608017" cy="129539"/>
          </a:xfrm>
        </p:grpSpPr>
        <p:sp>
          <p:nvSpPr>
            <p:cNvPr id="6" name="object 11">
              <a:extLst>
                <a:ext uri="{FF2B5EF4-FFF2-40B4-BE49-F238E27FC236}">
                  <a16:creationId xmlns:a16="http://schemas.microsoft.com/office/drawing/2014/main" id="{9EBB7915-0828-0DBD-78B7-B00BD4BF56F5}"/>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12">
              <a:extLst>
                <a:ext uri="{FF2B5EF4-FFF2-40B4-BE49-F238E27FC236}">
                  <a16:creationId xmlns:a16="http://schemas.microsoft.com/office/drawing/2014/main" id="{511716BC-D4E5-85A7-978A-65B48293C9C3}"/>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8" name="object 13">
              <a:extLst>
                <a:ext uri="{FF2B5EF4-FFF2-40B4-BE49-F238E27FC236}">
                  <a16:creationId xmlns:a16="http://schemas.microsoft.com/office/drawing/2014/main" id="{01DFEB78-1B3B-D736-D6BE-925DB4817477}"/>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7" name="object 14">
            <a:extLst>
              <a:ext uri="{FF2B5EF4-FFF2-40B4-BE49-F238E27FC236}">
                <a16:creationId xmlns:a16="http://schemas.microsoft.com/office/drawing/2014/main" id="{7B94DA85-DB6E-DA0A-82CE-C50CC0CB5346}"/>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22" name="object 15">
            <a:extLst>
              <a:ext uri="{FF2B5EF4-FFF2-40B4-BE49-F238E27FC236}">
                <a16:creationId xmlns:a16="http://schemas.microsoft.com/office/drawing/2014/main" id="{A9420B2F-1B20-F279-C6C5-E71657F0AB82}"/>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3" name="object 16">
            <a:extLst>
              <a:ext uri="{FF2B5EF4-FFF2-40B4-BE49-F238E27FC236}">
                <a16:creationId xmlns:a16="http://schemas.microsoft.com/office/drawing/2014/main" id="{25CD2A31-0C53-32FE-3C83-D2A330B5B6C9}"/>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4" name="object 17">
            <a:extLst>
              <a:ext uri="{FF2B5EF4-FFF2-40B4-BE49-F238E27FC236}">
                <a16:creationId xmlns:a16="http://schemas.microsoft.com/office/drawing/2014/main" id="{B4A61CB1-29DC-BBBE-A453-D1197F837367}"/>
              </a:ext>
            </a:extLst>
          </p:cNvPr>
          <p:cNvSpPr txBox="1">
            <a:spLocks/>
          </p:cNvSpPr>
          <p:nvPr/>
        </p:nvSpPr>
        <p:spPr>
          <a:xfrm>
            <a:off x="4335780" y="3331252"/>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10</a:t>
            </a:fld>
            <a:r>
              <a:rPr lang="en-IN" spc="-70" dirty="0"/>
              <a:t> </a:t>
            </a:r>
            <a:r>
              <a:rPr lang="en-IN" dirty="0"/>
              <a:t>/</a:t>
            </a:r>
            <a:r>
              <a:rPr lang="en-IN" spc="-65" dirty="0"/>
              <a:t> </a:t>
            </a:r>
            <a:r>
              <a:rPr lang="en-IN" spc="-25" dirty="0"/>
              <a:t>11</a:t>
            </a:r>
          </a:p>
        </p:txBody>
      </p:sp>
      <p:sp>
        <p:nvSpPr>
          <p:cNvPr id="4" name="Rectangle 1">
            <a:extLst>
              <a:ext uri="{FF2B5EF4-FFF2-40B4-BE49-F238E27FC236}">
                <a16:creationId xmlns:a16="http://schemas.microsoft.com/office/drawing/2014/main" id="{27DA1499-9E9F-6145-D224-251168CCD726}"/>
              </a:ext>
            </a:extLst>
          </p:cNvPr>
          <p:cNvSpPr>
            <a:spLocks noChangeArrowheads="1"/>
          </p:cNvSpPr>
          <p:nvPr/>
        </p:nvSpPr>
        <p:spPr bwMode="auto">
          <a:xfrm>
            <a:off x="18049" y="663575"/>
            <a:ext cx="4562467" cy="195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To ensure scalability and adaptability so that detection accuracy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improves as the training dataset grows richer.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To reduce dependency on manual CCTV monitoring and minimize</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human error in accident detection.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To develop an AI-powered accident detection system using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deep learning techniques.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To apply Convolutional Neural Networks (CNNs) for detecting objects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a:ln>
                  <a:noFill/>
                </a:ln>
                <a:solidFill>
                  <a:schemeClr val="tx1"/>
                </a:solidFill>
                <a:effectLst/>
                <a:latin typeface="Arial" panose="020B0604020202020204" pitchFamily="34" charset="0"/>
              </a:rPr>
              <a:t>such </a:t>
            </a:r>
            <a:r>
              <a:rPr kumimoji="0" lang="en-US" altLang="en-US" sz="1100" b="0" i="0" u="none" strike="noStrike" cap="none" normalizeH="0" baseline="0" dirty="0">
                <a:ln>
                  <a:noFill/>
                </a:ln>
                <a:solidFill>
                  <a:schemeClr val="tx1"/>
                </a:solidFill>
                <a:effectLst/>
                <a:latin typeface="Arial" panose="020B0604020202020204" pitchFamily="34" charset="0"/>
              </a:rPr>
              <a:t>as vehicles, pedestrians, and fire in tunnel CCTV footage.</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05" y="0"/>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r>
              <a:rPr lang="en-IN" sz="1400" dirty="0">
                <a:solidFill>
                  <a:schemeClr val="bg1"/>
                </a:solidFill>
              </a:rPr>
              <a:t>   scope</a:t>
            </a:r>
            <a:endParaRPr sz="1400" dirty="0">
              <a:solidFill>
                <a:schemeClr val="bg1"/>
              </a:solidFill>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11</a:t>
            </a:fld>
            <a:r>
              <a:rPr spc="-70" dirty="0"/>
              <a:t> </a:t>
            </a:r>
            <a:r>
              <a:rPr dirty="0"/>
              <a:t>/</a:t>
            </a:r>
            <a:r>
              <a:rPr spc="-65" dirty="0"/>
              <a:t> </a:t>
            </a:r>
            <a:r>
              <a:rPr spc="-25" dirty="0"/>
              <a:t>15</a:t>
            </a:r>
          </a:p>
        </p:txBody>
      </p:sp>
      <p:sp>
        <p:nvSpPr>
          <p:cNvPr id="14" name="Rectangle 1">
            <a:extLst>
              <a:ext uri="{FF2B5EF4-FFF2-40B4-BE49-F238E27FC236}">
                <a16:creationId xmlns:a16="http://schemas.microsoft.com/office/drawing/2014/main" id="{C2687334-18DD-593B-07C0-01556B948C47}"/>
              </a:ext>
            </a:extLst>
          </p:cNvPr>
          <p:cNvSpPr>
            <a:spLocks noChangeArrowheads="1"/>
          </p:cNvSpPr>
          <p:nvPr/>
        </p:nvSpPr>
        <p:spPr bwMode="auto">
          <a:xfrm>
            <a:off x="35952" y="340014"/>
            <a:ext cx="4505909"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IN" sz="1100" dirty="0"/>
              <a:t>Detects accident-prone events: wrong-way driving, stoppage, pedestrian presence, and fire.</a:t>
            </a:r>
          </a:p>
          <a:p>
            <a:pPr>
              <a:buFont typeface="Arial" panose="020B0604020202020204" pitchFamily="34" charset="0"/>
              <a:buChar char="•"/>
            </a:pPr>
            <a:endParaRPr lang="en-IN" sz="1100" dirty="0"/>
          </a:p>
          <a:p>
            <a:pPr>
              <a:buFont typeface="Arial" panose="020B0604020202020204" pitchFamily="34" charset="0"/>
              <a:buChar char="•"/>
            </a:pPr>
            <a:r>
              <a:rPr lang="en-IN" sz="1100" dirty="0"/>
              <a:t>Applicable in tunnels, highways, and critical traffic zones with CCTV.</a:t>
            </a:r>
          </a:p>
          <a:p>
            <a:pPr>
              <a:buFont typeface="Arial" panose="020B0604020202020204" pitchFamily="34" charset="0"/>
              <a:buChar char="•"/>
            </a:pPr>
            <a:endParaRPr lang="en-IN" sz="1100" dirty="0"/>
          </a:p>
          <a:p>
            <a:pPr>
              <a:buFont typeface="Arial" panose="020B0604020202020204" pitchFamily="34" charset="0"/>
              <a:buChar char="•"/>
            </a:pPr>
            <a:r>
              <a:rPr lang="en-IN" sz="1100" dirty="0"/>
              <a:t>Uses CNN, Faster R-CNN, and tracking algorithms for real-time detection.</a:t>
            </a:r>
          </a:p>
          <a:p>
            <a:pPr>
              <a:buFont typeface="Arial" panose="020B0604020202020204" pitchFamily="34" charset="0"/>
              <a:buChar char="•"/>
            </a:pPr>
            <a:endParaRPr lang="en-IN" sz="1100" dirty="0"/>
          </a:p>
          <a:p>
            <a:pPr>
              <a:buFont typeface="Arial" panose="020B0604020202020204" pitchFamily="34" charset="0"/>
              <a:buChar char="•"/>
            </a:pPr>
            <a:r>
              <a:rPr lang="en-IN" sz="1100" dirty="0"/>
              <a:t>Accuracy improves as dataset grows with diverse scenarios.</a:t>
            </a:r>
          </a:p>
          <a:p>
            <a:pPr>
              <a:buFont typeface="Arial" panose="020B0604020202020204" pitchFamily="34" charset="0"/>
              <a:buChar char="•"/>
            </a:pPr>
            <a:endParaRPr lang="en-IN" sz="1100" dirty="0"/>
          </a:p>
          <a:p>
            <a:pPr>
              <a:buFont typeface="Arial" panose="020B0604020202020204" pitchFamily="34" charset="0"/>
              <a:buChar char="•"/>
            </a:pPr>
            <a:r>
              <a:rPr lang="en-IN" sz="1100" dirty="0"/>
              <a:t>Reduces manual monitoring and minimizes human errors.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grpSp>
        <p:nvGrpSpPr>
          <p:cNvPr id="3" name="object 10">
            <a:extLst>
              <a:ext uri="{FF2B5EF4-FFF2-40B4-BE49-F238E27FC236}">
                <a16:creationId xmlns:a16="http://schemas.microsoft.com/office/drawing/2014/main" id="{3BBA4BC3-1E7F-22CA-E8D0-6A68CCC6900B}"/>
              </a:ext>
            </a:extLst>
          </p:cNvPr>
          <p:cNvGrpSpPr/>
          <p:nvPr/>
        </p:nvGrpSpPr>
        <p:grpSpPr>
          <a:xfrm>
            <a:off x="-1" y="3328394"/>
            <a:ext cx="4608195" cy="132356"/>
            <a:chOff x="0" y="3326968"/>
            <a:chExt cx="4608017" cy="129539"/>
          </a:xfrm>
        </p:grpSpPr>
        <p:sp>
          <p:nvSpPr>
            <p:cNvPr id="4" name="object 11">
              <a:extLst>
                <a:ext uri="{FF2B5EF4-FFF2-40B4-BE49-F238E27FC236}">
                  <a16:creationId xmlns:a16="http://schemas.microsoft.com/office/drawing/2014/main" id="{6791F8AC-F71F-F0D8-CC64-646E86EBE43A}"/>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5" name="object 12">
              <a:extLst>
                <a:ext uri="{FF2B5EF4-FFF2-40B4-BE49-F238E27FC236}">
                  <a16:creationId xmlns:a16="http://schemas.microsoft.com/office/drawing/2014/main" id="{9C568EF7-AE4F-16DA-22DC-106504B88287}"/>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5" name="object 13">
              <a:extLst>
                <a:ext uri="{FF2B5EF4-FFF2-40B4-BE49-F238E27FC236}">
                  <a16:creationId xmlns:a16="http://schemas.microsoft.com/office/drawing/2014/main" id="{C5CA0CB7-A8DB-8CD0-158F-3CDC81A0AE2C}"/>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6" name="object 14">
            <a:extLst>
              <a:ext uri="{FF2B5EF4-FFF2-40B4-BE49-F238E27FC236}">
                <a16:creationId xmlns:a16="http://schemas.microsoft.com/office/drawing/2014/main" id="{AD58B666-A5B0-6E37-5F5D-359F70ED25FC}"/>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7" name="object 15">
            <a:extLst>
              <a:ext uri="{FF2B5EF4-FFF2-40B4-BE49-F238E27FC236}">
                <a16:creationId xmlns:a16="http://schemas.microsoft.com/office/drawing/2014/main" id="{80406121-FE7F-9F62-87C8-5AC1CA9F9235}"/>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18" name="object 16">
            <a:extLst>
              <a:ext uri="{FF2B5EF4-FFF2-40B4-BE49-F238E27FC236}">
                <a16:creationId xmlns:a16="http://schemas.microsoft.com/office/drawing/2014/main" id="{F0E03F45-F8CF-2E80-60CB-3F2BB50FB352}"/>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19" name="object 17">
            <a:extLst>
              <a:ext uri="{FF2B5EF4-FFF2-40B4-BE49-F238E27FC236}">
                <a16:creationId xmlns:a16="http://schemas.microsoft.com/office/drawing/2014/main" id="{37101D2A-48D0-A23C-3A5F-EC9C2B0794A8}"/>
              </a:ext>
            </a:extLst>
          </p:cNvPr>
          <p:cNvSpPr txBox="1">
            <a:spLocks/>
          </p:cNvSpPr>
          <p:nvPr/>
        </p:nvSpPr>
        <p:spPr>
          <a:xfrm>
            <a:off x="4343400" y="3331252"/>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11</a:t>
            </a:fld>
            <a:r>
              <a:rPr lang="en-IN" spc="-70" dirty="0"/>
              <a:t> </a:t>
            </a:r>
            <a:r>
              <a:rPr lang="en-IN" dirty="0"/>
              <a:t>/</a:t>
            </a:r>
            <a:r>
              <a:rPr lang="en-IN" spc="-65" dirty="0"/>
              <a:t> </a:t>
            </a:r>
            <a:r>
              <a:rPr lang="en-IN" spc="-25" dirty="0"/>
              <a:t>11</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58178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Problem</a:t>
            </a:r>
            <a:r>
              <a:rPr sz="1400" spc="75" dirty="0">
                <a:solidFill>
                  <a:srgbClr val="FFFFFF"/>
                </a:solidFill>
                <a:latin typeface="Arial MT"/>
                <a:cs typeface="Arial MT"/>
              </a:rPr>
              <a:t> </a:t>
            </a:r>
            <a:r>
              <a:rPr sz="1400" spc="-10" dirty="0">
                <a:solidFill>
                  <a:srgbClr val="FFFFFF"/>
                </a:solidFill>
                <a:latin typeface="Arial MT"/>
                <a:cs typeface="Arial MT"/>
              </a:rPr>
              <a:t>Statement</a:t>
            </a:r>
            <a:endParaRPr sz="1400">
              <a:latin typeface="Arial MT"/>
              <a:cs typeface="Arial MT"/>
            </a:endParaRPr>
          </a:p>
        </p:txBody>
      </p:sp>
      <p:pic>
        <p:nvPicPr>
          <p:cNvPr id="4" name="object 4"/>
          <p:cNvPicPr/>
          <p:nvPr/>
        </p:nvPicPr>
        <p:blipFill>
          <a:blip r:embed="rId2" cstate="print"/>
          <a:stretch>
            <a:fillRect/>
          </a:stretch>
        </p:blipFill>
        <p:spPr>
          <a:xfrm>
            <a:off x="421944" y="1044575"/>
            <a:ext cx="76809" cy="76809"/>
          </a:xfrm>
          <a:prstGeom prst="rect">
            <a:avLst/>
          </a:prstGeom>
        </p:spPr>
      </p:pic>
      <p:sp>
        <p:nvSpPr>
          <p:cNvPr id="5" name="object 5"/>
          <p:cNvSpPr txBox="1"/>
          <p:nvPr/>
        </p:nvSpPr>
        <p:spPr>
          <a:xfrm>
            <a:off x="484682" y="968375"/>
            <a:ext cx="3629202" cy="1209305"/>
          </a:xfrm>
          <a:prstGeom prst="rect">
            <a:avLst/>
          </a:prstGeom>
        </p:spPr>
        <p:txBody>
          <a:bodyPr vert="horz" wrap="square" lIns="0" tIns="11430" rIns="0" bIns="0" rtlCol="0">
            <a:spAutoFit/>
          </a:bodyPr>
          <a:lstStyle/>
          <a:p>
            <a:pPr marL="53975">
              <a:spcBef>
                <a:spcPts val="1160"/>
              </a:spcBef>
              <a:spcAft>
                <a:spcPts val="0"/>
              </a:spcAft>
            </a:pPr>
            <a:r>
              <a:rPr lang="en-US" sz="1100" b="1" dirty="0"/>
              <a:t>“</a:t>
            </a:r>
            <a:r>
              <a:rPr lang="en-IN" sz="1100" dirty="0">
                <a:effectLst/>
                <a:latin typeface="Times New Roman" panose="02020603050405020304" pitchFamily="18" charset="0"/>
                <a:ea typeface="Times New Roman" panose="02020603050405020304" pitchFamily="18" charset="0"/>
              </a:rPr>
              <a:t>Accidents occurring inside tunnels are difficult to detect in real time due to poor visibility, reliance on manual monitoring, and lack of automated surveillance intelligence. To overcome these limitations, an Object Detection and Tracking System is required to identify accident-related scenarios automatically using deep learning models integrated with CCTV systems.</a:t>
            </a:r>
            <a:r>
              <a:rPr lang="en-US" sz="1100" b="1" dirty="0"/>
              <a:t>”</a:t>
            </a:r>
            <a:endParaRPr lang="en-US" sz="1100" dirty="0"/>
          </a:p>
          <a:p>
            <a:pPr marL="12700">
              <a:lnSpc>
                <a:spcPct val="100000"/>
              </a:lnSpc>
              <a:spcBef>
                <a:spcPts val="90"/>
              </a:spcBef>
            </a:pPr>
            <a:endParaRPr sz="11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12</a:t>
            </a:fld>
            <a:r>
              <a:rPr spc="-70" dirty="0"/>
              <a:t> </a:t>
            </a:r>
            <a:r>
              <a:rPr dirty="0"/>
              <a:t>/</a:t>
            </a:r>
            <a:r>
              <a:rPr spc="-65" dirty="0"/>
              <a:t> </a:t>
            </a:r>
            <a:r>
              <a:rPr spc="-25" dirty="0"/>
              <a:t>15</a:t>
            </a:r>
          </a:p>
        </p:txBody>
      </p:sp>
      <p:grpSp>
        <p:nvGrpSpPr>
          <p:cNvPr id="14" name="object 10">
            <a:extLst>
              <a:ext uri="{FF2B5EF4-FFF2-40B4-BE49-F238E27FC236}">
                <a16:creationId xmlns:a16="http://schemas.microsoft.com/office/drawing/2014/main" id="{1242BC40-8FAF-09B0-062D-B91AAA9B07E0}"/>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CEFF16F5-9283-631B-3AAB-054B9600E0E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597F34B6-87BC-5BE1-8766-F884EB4DDB14}"/>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0D1A796B-5C01-4CBF-8E0E-43F248FDFC27}"/>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720C2CFB-B948-D733-8222-BCBB1CCC83CB}"/>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F52E7D6B-4FB0-3D36-4F95-CB030DBF3F37}"/>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660495A9-D8BB-0BE7-8019-CDC52E3176BA}"/>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1" name="object 17">
            <a:extLst>
              <a:ext uri="{FF2B5EF4-FFF2-40B4-BE49-F238E27FC236}">
                <a16:creationId xmlns:a16="http://schemas.microsoft.com/office/drawing/2014/main" id="{9ED2D8EF-4AE1-95E7-1AB4-2AD87F094F33}"/>
              </a:ext>
            </a:extLst>
          </p:cNvPr>
          <p:cNvSpPr txBox="1">
            <a:spLocks/>
          </p:cNvSpPr>
          <p:nvPr/>
        </p:nvSpPr>
        <p:spPr>
          <a:xfrm>
            <a:off x="4286250" y="3332481"/>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12</a:t>
            </a:fld>
            <a:r>
              <a:rPr lang="en-IN" spc="-70" dirty="0"/>
              <a:t> </a:t>
            </a:r>
            <a:r>
              <a:rPr lang="en-IN" dirty="0"/>
              <a:t>/</a:t>
            </a:r>
            <a:r>
              <a:rPr lang="en-IN" spc="-65" dirty="0"/>
              <a:t> </a:t>
            </a:r>
            <a:r>
              <a:rPr lang="en-IN" spc="-25" dirty="0"/>
              <a:t>11</a:t>
            </a:r>
          </a:p>
        </p:txBody>
      </p:sp>
    </p:spTree>
    <p:extLst>
      <p:ext uri="{BB962C8B-B14F-4D97-AF65-F5344CB8AC3E}">
        <p14:creationId xmlns:p14="http://schemas.microsoft.com/office/powerpoint/2010/main" val="3767328918"/>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200350" cy="232756"/>
          </a:xfrm>
          <a:prstGeom prst="rect">
            <a:avLst/>
          </a:prstGeom>
        </p:spPr>
        <p:txBody>
          <a:bodyPr vert="horz" wrap="square" lIns="0" tIns="17145" rIns="0" bIns="0" rtlCol="0">
            <a:spAutoFit/>
          </a:bodyPr>
          <a:lstStyle/>
          <a:p>
            <a:pPr marL="12700">
              <a:lnSpc>
                <a:spcPct val="100000"/>
              </a:lnSpc>
              <a:spcBef>
                <a:spcPts val="135"/>
              </a:spcBef>
            </a:pPr>
            <a:r>
              <a:rPr lang="en-IN" sz="1400" spc="-10" dirty="0">
                <a:solidFill>
                  <a:srgbClr val="FFFFFF"/>
                </a:solidFill>
                <a:latin typeface="Arial MT"/>
                <a:cs typeface="Arial MT"/>
              </a:rPr>
              <a:t>Architecture Diagram</a:t>
            </a:r>
            <a:endParaRPr sz="14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13</a:t>
            </a:fld>
            <a:r>
              <a:rPr spc="-70" dirty="0"/>
              <a:t> </a:t>
            </a:r>
            <a:r>
              <a:rPr dirty="0"/>
              <a:t>/</a:t>
            </a:r>
            <a:r>
              <a:rPr spc="-65" dirty="0"/>
              <a:t> </a:t>
            </a:r>
            <a:r>
              <a:rPr spc="-25" dirty="0"/>
              <a:t>15</a:t>
            </a:r>
          </a:p>
        </p:txBody>
      </p:sp>
      <p:grpSp>
        <p:nvGrpSpPr>
          <p:cNvPr id="14" name="object 10">
            <a:extLst>
              <a:ext uri="{FF2B5EF4-FFF2-40B4-BE49-F238E27FC236}">
                <a16:creationId xmlns:a16="http://schemas.microsoft.com/office/drawing/2014/main" id="{1242BC40-8FAF-09B0-062D-B91AAA9B07E0}"/>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CEFF16F5-9283-631B-3AAB-054B9600E0E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597F34B6-87BC-5BE1-8766-F884EB4DDB14}"/>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0D1A796B-5C01-4CBF-8E0E-43F248FDFC27}"/>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720C2CFB-B948-D733-8222-BCBB1CCC83CB}"/>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F52E7D6B-4FB0-3D36-4F95-CB030DBF3F37}"/>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660495A9-D8BB-0BE7-8019-CDC52E3176BA}"/>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1" name="object 17">
            <a:extLst>
              <a:ext uri="{FF2B5EF4-FFF2-40B4-BE49-F238E27FC236}">
                <a16:creationId xmlns:a16="http://schemas.microsoft.com/office/drawing/2014/main" id="{9ED2D8EF-4AE1-95E7-1AB4-2AD87F094F33}"/>
              </a:ext>
            </a:extLst>
          </p:cNvPr>
          <p:cNvSpPr txBox="1">
            <a:spLocks/>
          </p:cNvSpPr>
          <p:nvPr/>
        </p:nvSpPr>
        <p:spPr>
          <a:xfrm>
            <a:off x="4286250" y="3332481"/>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13</a:t>
            </a:fld>
            <a:r>
              <a:rPr lang="en-IN" spc="-70" dirty="0"/>
              <a:t> </a:t>
            </a:r>
            <a:r>
              <a:rPr lang="en-IN" dirty="0"/>
              <a:t>/</a:t>
            </a:r>
            <a:r>
              <a:rPr lang="en-IN" spc="-65" dirty="0"/>
              <a:t> </a:t>
            </a:r>
            <a:r>
              <a:rPr lang="en-IN" spc="-25" dirty="0"/>
              <a:t>11</a:t>
            </a:r>
          </a:p>
        </p:txBody>
      </p:sp>
      <p:pic>
        <p:nvPicPr>
          <p:cNvPr id="7" name="Picture 6">
            <a:extLst>
              <a:ext uri="{FF2B5EF4-FFF2-40B4-BE49-F238E27FC236}">
                <a16:creationId xmlns:a16="http://schemas.microsoft.com/office/drawing/2014/main" id="{4FCEA106-6BB1-7C99-E2E2-B6FBDEE40A07}"/>
              </a:ext>
            </a:extLst>
          </p:cNvPr>
          <p:cNvPicPr>
            <a:picLocks noChangeAspect="1"/>
          </p:cNvPicPr>
          <p:nvPr/>
        </p:nvPicPr>
        <p:blipFill>
          <a:blip r:embed="rId2"/>
          <a:stretch>
            <a:fillRect/>
          </a:stretch>
        </p:blipFill>
        <p:spPr>
          <a:xfrm>
            <a:off x="123825" y="362487"/>
            <a:ext cx="4362450" cy="2584983"/>
          </a:xfrm>
          <a:prstGeom prst="rect">
            <a:avLst/>
          </a:prstGeom>
        </p:spPr>
      </p:pic>
    </p:spTree>
    <p:extLst>
      <p:ext uri="{BB962C8B-B14F-4D97-AF65-F5344CB8AC3E}">
        <p14:creationId xmlns:p14="http://schemas.microsoft.com/office/powerpoint/2010/main" val="1229279330"/>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200350" cy="232756"/>
          </a:xfrm>
          <a:prstGeom prst="rect">
            <a:avLst/>
          </a:prstGeom>
        </p:spPr>
        <p:txBody>
          <a:bodyPr vert="horz" wrap="square" lIns="0" tIns="17145" rIns="0" bIns="0" rtlCol="0">
            <a:spAutoFit/>
          </a:bodyPr>
          <a:lstStyle/>
          <a:p>
            <a:pPr marL="12700">
              <a:lnSpc>
                <a:spcPct val="100000"/>
              </a:lnSpc>
              <a:spcBef>
                <a:spcPts val="135"/>
              </a:spcBef>
            </a:pPr>
            <a:r>
              <a:rPr lang="en-IN" sz="1400" spc="-10" dirty="0">
                <a:solidFill>
                  <a:srgbClr val="FFFFFF"/>
                </a:solidFill>
                <a:latin typeface="Arial MT"/>
                <a:cs typeface="Arial MT"/>
              </a:rPr>
              <a:t>Algorithm Approach</a:t>
            </a:r>
            <a:endParaRPr sz="14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14</a:t>
            </a:fld>
            <a:r>
              <a:rPr spc="-70" dirty="0"/>
              <a:t> </a:t>
            </a:r>
            <a:r>
              <a:rPr dirty="0"/>
              <a:t>/</a:t>
            </a:r>
            <a:r>
              <a:rPr spc="-65" dirty="0"/>
              <a:t> </a:t>
            </a:r>
            <a:r>
              <a:rPr spc="-25" dirty="0"/>
              <a:t>15</a:t>
            </a:r>
          </a:p>
        </p:txBody>
      </p:sp>
      <p:grpSp>
        <p:nvGrpSpPr>
          <p:cNvPr id="14" name="object 10">
            <a:extLst>
              <a:ext uri="{FF2B5EF4-FFF2-40B4-BE49-F238E27FC236}">
                <a16:creationId xmlns:a16="http://schemas.microsoft.com/office/drawing/2014/main" id="{1242BC40-8FAF-09B0-062D-B91AAA9B07E0}"/>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CEFF16F5-9283-631B-3AAB-054B9600E0E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597F34B6-87BC-5BE1-8766-F884EB4DDB14}"/>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0D1A796B-5C01-4CBF-8E0E-43F248FDFC27}"/>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720C2CFB-B948-D733-8222-BCBB1CCC83CB}"/>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F52E7D6B-4FB0-3D36-4F95-CB030DBF3F37}"/>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660495A9-D8BB-0BE7-8019-CDC52E3176BA}"/>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1" name="object 17">
            <a:extLst>
              <a:ext uri="{FF2B5EF4-FFF2-40B4-BE49-F238E27FC236}">
                <a16:creationId xmlns:a16="http://schemas.microsoft.com/office/drawing/2014/main" id="{9ED2D8EF-4AE1-95E7-1AB4-2AD87F094F33}"/>
              </a:ext>
            </a:extLst>
          </p:cNvPr>
          <p:cNvSpPr txBox="1">
            <a:spLocks/>
          </p:cNvSpPr>
          <p:nvPr/>
        </p:nvSpPr>
        <p:spPr>
          <a:xfrm>
            <a:off x="4286250" y="3332481"/>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14</a:t>
            </a:fld>
            <a:r>
              <a:rPr lang="en-IN" spc="-70" dirty="0"/>
              <a:t> </a:t>
            </a:r>
            <a:r>
              <a:rPr lang="en-IN" dirty="0"/>
              <a:t>/</a:t>
            </a:r>
            <a:r>
              <a:rPr lang="en-IN" spc="-65" dirty="0"/>
              <a:t> </a:t>
            </a:r>
            <a:r>
              <a:rPr lang="en-IN" spc="-25" dirty="0"/>
              <a:t>11</a:t>
            </a:r>
          </a:p>
        </p:txBody>
      </p:sp>
      <p:sp>
        <p:nvSpPr>
          <p:cNvPr id="4" name="object 5">
            <a:extLst>
              <a:ext uri="{FF2B5EF4-FFF2-40B4-BE49-F238E27FC236}">
                <a16:creationId xmlns:a16="http://schemas.microsoft.com/office/drawing/2014/main" id="{2227B685-366A-7085-7D15-6E91A7571999}"/>
              </a:ext>
            </a:extLst>
          </p:cNvPr>
          <p:cNvSpPr txBox="1"/>
          <p:nvPr/>
        </p:nvSpPr>
        <p:spPr>
          <a:xfrm>
            <a:off x="171452" y="367510"/>
            <a:ext cx="4190998" cy="3561231"/>
          </a:xfrm>
          <a:prstGeom prst="rect">
            <a:avLst/>
          </a:prstGeom>
        </p:spPr>
        <p:txBody>
          <a:bodyPr vert="horz" wrap="square" lIns="0" tIns="11430" rIns="0" bIns="0" rtlCol="0">
            <a:spAutoFit/>
          </a:bodyPr>
          <a:lstStyle/>
          <a:p>
            <a:pPr marL="584835" indent="-530860"/>
            <a:r>
              <a:rPr lang="en-IN" sz="1050" b="0" dirty="0">
                <a:effectLst/>
                <a:latin typeface="Times New Roman" panose="02020603050405020304" pitchFamily="18" charset="0"/>
              </a:rPr>
              <a:t>1. Load video stream V</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2. For each frame Ft in V:</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a. Pre-process Ft (resize, normalize, denoise)</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b. Apply data augmentation (optional for training)</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c. Detect objects using Faster R-CNN → get bounding boxes B</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d. Track objects using Deep SORT/Kalman Filter → assign unique IDs</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e. For each object O in B:</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a:t>
            </a:r>
            <a:r>
              <a:rPr lang="en-IN" sz="1050" b="0" dirty="0" err="1">
                <a:effectLst/>
                <a:latin typeface="Times New Roman" panose="02020603050405020304" pitchFamily="18" charset="0"/>
              </a:rPr>
              <a:t>i</a:t>
            </a:r>
            <a:r>
              <a:rPr lang="en-IN" sz="1050" b="0" dirty="0">
                <a:effectLst/>
                <a:latin typeface="Times New Roman" panose="02020603050405020304" pitchFamily="18" charset="0"/>
              </a:rPr>
              <a:t>. If O.class == Vehicle:</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 If moving opposite to tunnel flow → </a:t>
            </a:r>
          </a:p>
          <a:p>
            <a:pPr marL="584835" indent="-530860"/>
            <a:r>
              <a:rPr lang="en-IN" sz="1050" dirty="0">
                <a:latin typeface="Times New Roman" panose="02020603050405020304" pitchFamily="18" charset="0"/>
              </a:rPr>
              <a:t>			</a:t>
            </a:r>
            <a:r>
              <a:rPr lang="en-IN" sz="1050" b="0" dirty="0">
                <a:effectLst/>
                <a:latin typeface="Times New Roman" panose="02020603050405020304" pitchFamily="18" charset="0"/>
              </a:rPr>
              <a:t>Event = WrongWayDriving</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 If speed ≈ 0 for duration &gt; Ts → </a:t>
            </a:r>
          </a:p>
          <a:p>
            <a:pPr marL="584835" indent="-530860"/>
            <a:r>
              <a:rPr lang="en-IN" sz="1050" dirty="0">
                <a:latin typeface="Times New Roman" panose="02020603050405020304" pitchFamily="18" charset="0"/>
              </a:rPr>
              <a:t>			</a:t>
            </a:r>
            <a:r>
              <a:rPr lang="en-IN" sz="1050" b="0" dirty="0">
                <a:effectLst/>
                <a:latin typeface="Times New Roman" panose="02020603050405020304" pitchFamily="18" charset="0"/>
              </a:rPr>
              <a:t>Event = VehicleStoppage</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ii. If O.class == Person and in restricted zone →</a:t>
            </a:r>
          </a:p>
          <a:p>
            <a:pPr marL="584835" indent="-530860"/>
            <a:r>
              <a:rPr lang="en-IN" sz="1050" dirty="0">
                <a:latin typeface="Times New Roman" panose="02020603050405020304" pitchFamily="18" charset="0"/>
              </a:rPr>
              <a:t>			</a:t>
            </a:r>
            <a:r>
              <a:rPr lang="en-IN" sz="1050" b="0" dirty="0">
                <a:effectLst/>
                <a:latin typeface="Times New Roman" panose="02020603050405020304" pitchFamily="18" charset="0"/>
              </a:rPr>
              <a:t>Event = PedestrianIntrusion</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iii. If O.class == Fire/Smoke with confidence &gt; θ → </a:t>
            </a:r>
            <a:endParaRPr lang="en-IN" sz="1050" dirty="0">
              <a:latin typeface="Times New Roman" panose="02020603050405020304" pitchFamily="18" charset="0"/>
            </a:endParaRPr>
          </a:p>
          <a:p>
            <a:pPr marL="584835" indent="-530860"/>
            <a:r>
              <a:rPr lang="en-IN" sz="1050" b="0" dirty="0">
                <a:effectLst/>
                <a:latin typeface="Times New Roman" panose="02020603050405020304" pitchFamily="18" charset="0"/>
              </a:rPr>
              <a:t>			Event = FireIncident</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      f. Send detected Event(s) to control centre alert system</a:t>
            </a:r>
            <a:endParaRPr lang="en-IN" sz="1050" b="1" dirty="0">
              <a:effectLst/>
              <a:latin typeface="Times New Roman" panose="02020603050405020304" pitchFamily="18" charset="0"/>
            </a:endParaRPr>
          </a:p>
          <a:p>
            <a:pPr marL="584835" indent="-530860"/>
            <a:r>
              <a:rPr lang="en-IN" sz="1050" b="0" dirty="0">
                <a:effectLst/>
                <a:latin typeface="Times New Roman" panose="02020603050405020304" pitchFamily="18" charset="0"/>
              </a:rPr>
              <a:t>3. Repeat for all frames</a:t>
            </a:r>
            <a:endParaRPr lang="en-IN" sz="1050" b="1" dirty="0">
              <a:effectLst/>
              <a:latin typeface="Times New Roman" panose="02020603050405020304" pitchFamily="18" charset="0"/>
            </a:endParaRPr>
          </a:p>
          <a:p>
            <a:pPr marL="584835" indent="-530860"/>
            <a:r>
              <a:rPr lang="en-IN" sz="1800" b="1" dirty="0">
                <a:effectLst/>
                <a:latin typeface="Times New Roman" panose="02020603050405020304" pitchFamily="18" charset="0"/>
              </a:rPr>
              <a:t> </a:t>
            </a:r>
          </a:p>
          <a:p>
            <a:pPr marL="12700">
              <a:spcBef>
                <a:spcPts val="90"/>
              </a:spcBef>
            </a:pPr>
            <a:endParaRPr lang="en-US" sz="1100" dirty="0"/>
          </a:p>
          <a:p>
            <a:pPr marL="12700">
              <a:lnSpc>
                <a:spcPct val="100000"/>
              </a:lnSpc>
              <a:spcBef>
                <a:spcPts val="90"/>
              </a:spcBef>
            </a:pPr>
            <a:endParaRPr sz="1100" dirty="0">
              <a:latin typeface="Arial MT"/>
              <a:cs typeface="Arial MT"/>
            </a:endParaRPr>
          </a:p>
        </p:txBody>
      </p:sp>
    </p:spTree>
    <p:extLst>
      <p:ext uri="{BB962C8B-B14F-4D97-AF65-F5344CB8AC3E}">
        <p14:creationId xmlns:p14="http://schemas.microsoft.com/office/powerpoint/2010/main" val="111034826"/>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815" y="0"/>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200350" cy="232756"/>
          </a:xfrm>
          <a:prstGeom prst="rect">
            <a:avLst/>
          </a:prstGeom>
        </p:spPr>
        <p:txBody>
          <a:bodyPr vert="horz" wrap="square" lIns="0" tIns="17145" rIns="0" bIns="0" rtlCol="0">
            <a:spAutoFit/>
          </a:bodyPr>
          <a:lstStyle/>
          <a:p>
            <a:pPr marL="12700">
              <a:lnSpc>
                <a:spcPct val="100000"/>
              </a:lnSpc>
              <a:spcBef>
                <a:spcPts val="135"/>
              </a:spcBef>
            </a:pPr>
            <a:r>
              <a:rPr lang="en-IN" sz="1400" spc="-10" dirty="0">
                <a:solidFill>
                  <a:srgbClr val="FFFFFF"/>
                </a:solidFill>
                <a:latin typeface="Arial MT"/>
                <a:cs typeface="Arial MT"/>
              </a:rPr>
              <a:t>Input and Data sets</a:t>
            </a:r>
            <a:endParaRPr sz="14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15</a:t>
            </a:fld>
            <a:r>
              <a:rPr spc="-70" dirty="0"/>
              <a:t> </a:t>
            </a:r>
            <a:r>
              <a:rPr dirty="0"/>
              <a:t>/</a:t>
            </a:r>
            <a:r>
              <a:rPr spc="-65" dirty="0"/>
              <a:t> </a:t>
            </a:r>
            <a:r>
              <a:rPr spc="-25" dirty="0"/>
              <a:t>15</a:t>
            </a:r>
          </a:p>
        </p:txBody>
      </p:sp>
      <p:grpSp>
        <p:nvGrpSpPr>
          <p:cNvPr id="14" name="object 10">
            <a:extLst>
              <a:ext uri="{FF2B5EF4-FFF2-40B4-BE49-F238E27FC236}">
                <a16:creationId xmlns:a16="http://schemas.microsoft.com/office/drawing/2014/main" id="{1242BC40-8FAF-09B0-062D-B91AAA9B07E0}"/>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CEFF16F5-9283-631B-3AAB-054B9600E0E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597F34B6-87BC-5BE1-8766-F884EB4DDB14}"/>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0D1A796B-5C01-4CBF-8E0E-43F248FDFC27}"/>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720C2CFB-B948-D733-8222-BCBB1CCC83CB}"/>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F52E7D6B-4FB0-3D36-4F95-CB030DBF3F37}"/>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660495A9-D8BB-0BE7-8019-CDC52E3176BA}"/>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1" name="object 17">
            <a:extLst>
              <a:ext uri="{FF2B5EF4-FFF2-40B4-BE49-F238E27FC236}">
                <a16:creationId xmlns:a16="http://schemas.microsoft.com/office/drawing/2014/main" id="{9ED2D8EF-4AE1-95E7-1AB4-2AD87F094F33}"/>
              </a:ext>
            </a:extLst>
          </p:cNvPr>
          <p:cNvSpPr txBox="1">
            <a:spLocks/>
          </p:cNvSpPr>
          <p:nvPr/>
        </p:nvSpPr>
        <p:spPr>
          <a:xfrm>
            <a:off x="4286250" y="3332481"/>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15</a:t>
            </a:fld>
            <a:r>
              <a:rPr lang="en-IN" spc="-70" dirty="0"/>
              <a:t> </a:t>
            </a:r>
            <a:r>
              <a:rPr lang="en-IN" dirty="0"/>
              <a:t>/</a:t>
            </a:r>
            <a:r>
              <a:rPr lang="en-IN" spc="-65" dirty="0"/>
              <a:t> </a:t>
            </a:r>
            <a:r>
              <a:rPr lang="en-IN" spc="-25" dirty="0"/>
              <a:t>11</a:t>
            </a:r>
          </a:p>
        </p:txBody>
      </p:sp>
      <p:sp>
        <p:nvSpPr>
          <p:cNvPr id="4" name="Rectangle 3">
            <a:extLst>
              <a:ext uri="{FF2B5EF4-FFF2-40B4-BE49-F238E27FC236}">
                <a16:creationId xmlns:a16="http://schemas.microsoft.com/office/drawing/2014/main" id="{0C6FAAC0-B743-C20F-BBBC-1A3242B34B13}"/>
              </a:ext>
            </a:extLst>
          </p:cNvPr>
          <p:cNvSpPr/>
          <p:nvPr/>
        </p:nvSpPr>
        <p:spPr>
          <a:xfrm>
            <a:off x="95300" y="511174"/>
            <a:ext cx="4419550" cy="220980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342900" lvl="0" indent="-342900">
              <a:buSzPts val="1000"/>
              <a:buFont typeface="Symbol" panose="05050102010706020507" pitchFamily="18" charset="2"/>
              <a:buChar char=""/>
              <a:tabLst>
                <a:tab pos="457200" algn="l"/>
              </a:tabLst>
            </a:pPr>
            <a:r>
              <a:rPr lang="en-IN" sz="1050" b="1" dirty="0">
                <a:solidFill>
                  <a:schemeClr val="tx1"/>
                </a:solidFill>
                <a:effectLst/>
                <a:latin typeface="Times New Roman" panose="02020603050405020304" pitchFamily="18" charset="0"/>
                <a:ea typeface="Times New Roman" panose="02020603050405020304" pitchFamily="18" charset="0"/>
              </a:rPr>
              <a:t>Wrong-Way Driving:</a:t>
            </a:r>
            <a:r>
              <a:rPr lang="en-IN" sz="1050" dirty="0">
                <a:solidFill>
                  <a:schemeClr val="tx1"/>
                </a:solidFill>
                <a:effectLst/>
                <a:latin typeface="Times New Roman" panose="02020603050405020304" pitchFamily="18" charset="0"/>
                <a:ea typeface="Times New Roman" panose="02020603050405020304" pitchFamily="18" charset="0"/>
              </a:rPr>
              <a:t> Combination of real tunnel videos and samples.</a:t>
            </a:r>
          </a:p>
          <a:p>
            <a:pPr marL="342900" lvl="0" indent="-342900">
              <a:buSzPts val="1000"/>
              <a:buFont typeface="Symbol" panose="05050102010706020507" pitchFamily="18" charset="2"/>
              <a:buChar char=""/>
              <a:tabLst>
                <a:tab pos="457200" algn="l"/>
              </a:tabLst>
            </a:pPr>
            <a:r>
              <a:rPr lang="en-IN" sz="1050" b="1" dirty="0">
                <a:solidFill>
                  <a:schemeClr val="tx1"/>
                </a:solidFill>
                <a:effectLst/>
                <a:latin typeface="Times New Roman" panose="02020603050405020304" pitchFamily="18" charset="0"/>
                <a:ea typeface="Times New Roman" panose="02020603050405020304" pitchFamily="18" charset="0"/>
              </a:rPr>
              <a:t>Vehicle Stoppage:</a:t>
            </a:r>
            <a:r>
              <a:rPr lang="en-IN" sz="1050" dirty="0">
                <a:solidFill>
                  <a:schemeClr val="tx1"/>
                </a:solidFill>
                <a:effectLst/>
                <a:latin typeface="Times New Roman" panose="02020603050405020304" pitchFamily="18" charset="0"/>
                <a:ea typeface="Times New Roman" panose="02020603050405020304" pitchFamily="18" charset="0"/>
              </a:rPr>
              <a:t> Recordings of vehicles stopped in tunnels.</a:t>
            </a:r>
          </a:p>
          <a:p>
            <a:pPr marL="342900" lvl="0" indent="-342900">
              <a:buSzPts val="1000"/>
              <a:buFont typeface="Symbol" panose="05050102010706020507" pitchFamily="18" charset="2"/>
              <a:buChar char=""/>
              <a:tabLst>
                <a:tab pos="457200" algn="l"/>
              </a:tabLst>
            </a:pPr>
            <a:r>
              <a:rPr lang="en-IN" sz="1050" b="1" dirty="0">
                <a:solidFill>
                  <a:schemeClr val="tx1"/>
                </a:solidFill>
                <a:effectLst/>
                <a:latin typeface="Times New Roman" panose="02020603050405020304" pitchFamily="18" charset="0"/>
                <a:ea typeface="Times New Roman" panose="02020603050405020304" pitchFamily="18" charset="0"/>
              </a:rPr>
              <a:t>Pedestrian Intrusion:</a:t>
            </a:r>
            <a:r>
              <a:rPr lang="en-IN" sz="1050" dirty="0">
                <a:solidFill>
                  <a:schemeClr val="tx1"/>
                </a:solidFill>
                <a:effectLst/>
                <a:latin typeface="Times New Roman" panose="02020603050405020304" pitchFamily="18" charset="0"/>
                <a:ea typeface="Times New Roman" panose="02020603050405020304" pitchFamily="18" charset="0"/>
              </a:rPr>
              <a:t> Simulated tunnel entries with actors.</a:t>
            </a:r>
          </a:p>
          <a:p>
            <a:pPr marL="342900" lvl="0" indent="-342900">
              <a:buSzPts val="1000"/>
              <a:buFont typeface="Symbol" panose="05050102010706020507" pitchFamily="18" charset="2"/>
              <a:buChar char=""/>
              <a:tabLst>
                <a:tab pos="457200" algn="l"/>
              </a:tabLst>
            </a:pPr>
            <a:r>
              <a:rPr lang="en-IN" sz="1050" b="1" dirty="0">
                <a:solidFill>
                  <a:schemeClr val="tx1"/>
                </a:solidFill>
                <a:effectLst/>
                <a:latin typeface="Times New Roman" panose="02020603050405020304" pitchFamily="18" charset="0"/>
                <a:ea typeface="Times New Roman" panose="02020603050405020304" pitchFamily="18" charset="0"/>
              </a:rPr>
              <a:t>Fire Incidents:</a:t>
            </a:r>
            <a:r>
              <a:rPr lang="en-IN" sz="1050" dirty="0">
                <a:solidFill>
                  <a:schemeClr val="tx1"/>
                </a:solidFill>
                <a:effectLst/>
                <a:latin typeface="Times New Roman" panose="02020603050405020304" pitchFamily="18" charset="0"/>
                <a:ea typeface="Times New Roman" panose="02020603050405020304" pitchFamily="18" charset="0"/>
              </a:rPr>
              <a:t> Public fire datasets with simulated tunnel fire clips.</a:t>
            </a:r>
          </a:p>
          <a:p>
            <a:pPr lvl="0">
              <a:buSzPts val="1000"/>
              <a:tabLst>
                <a:tab pos="457200" algn="l"/>
              </a:tabLst>
            </a:pPr>
            <a:endParaRPr lang="en-IN" sz="1050" b="1" dirty="0">
              <a:solidFill>
                <a:schemeClr val="tx1"/>
              </a:solidFill>
              <a:effectLst/>
              <a:latin typeface="Times New Roman" panose="02020603050405020304" pitchFamily="18" charset="0"/>
              <a:ea typeface="Times New Roman" panose="02020603050405020304" pitchFamily="18" charset="0"/>
            </a:endParaRPr>
          </a:p>
          <a:p>
            <a:pPr lvl="0">
              <a:buSzPts val="1000"/>
              <a:tabLst>
                <a:tab pos="457200" algn="l"/>
              </a:tabLst>
            </a:pPr>
            <a:r>
              <a:rPr lang="en-IN" sz="1050" b="1" dirty="0">
                <a:solidFill>
                  <a:schemeClr val="tx1"/>
                </a:solidFill>
                <a:effectLst/>
                <a:latin typeface="Times New Roman" panose="02020603050405020304" pitchFamily="18" charset="0"/>
                <a:ea typeface="Times New Roman" panose="02020603050405020304" pitchFamily="18" charset="0"/>
              </a:rPr>
              <a:t>Dataset split:</a:t>
            </a:r>
            <a:endParaRPr lang="en-IN" sz="1050" dirty="0">
              <a:solidFill>
                <a:schemeClr val="tx1"/>
              </a:solidFill>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050" dirty="0">
                <a:solidFill>
                  <a:schemeClr val="tx1"/>
                </a:solidFill>
                <a:effectLst/>
                <a:latin typeface="Times New Roman" panose="02020603050405020304" pitchFamily="18" charset="0"/>
                <a:ea typeface="Times New Roman" panose="02020603050405020304" pitchFamily="18" charset="0"/>
              </a:rPr>
              <a:t>70% Training</a:t>
            </a:r>
          </a:p>
          <a:p>
            <a:pPr marL="342900" lvl="0" indent="-342900">
              <a:buSzPts val="1000"/>
              <a:buFont typeface="Symbol" panose="05050102010706020507" pitchFamily="18" charset="2"/>
              <a:buChar char=""/>
              <a:tabLst>
                <a:tab pos="457200" algn="l"/>
              </a:tabLst>
            </a:pPr>
            <a:r>
              <a:rPr lang="en-IN" sz="1050" dirty="0">
                <a:solidFill>
                  <a:schemeClr val="tx1"/>
                </a:solidFill>
                <a:effectLst/>
                <a:latin typeface="Times New Roman" panose="02020603050405020304" pitchFamily="18" charset="0"/>
                <a:ea typeface="Times New Roman" panose="02020603050405020304" pitchFamily="18" charset="0"/>
              </a:rPr>
              <a:t>15% Validation</a:t>
            </a:r>
          </a:p>
          <a:p>
            <a:pPr marL="342900" lvl="0" indent="-342900">
              <a:buSzPts val="1000"/>
              <a:buFont typeface="Symbol" panose="05050102010706020507" pitchFamily="18" charset="2"/>
              <a:buChar char=""/>
              <a:tabLst>
                <a:tab pos="457200" algn="l"/>
              </a:tabLst>
            </a:pPr>
            <a:r>
              <a:rPr lang="en-IN" sz="1050" dirty="0">
                <a:solidFill>
                  <a:schemeClr val="tx1"/>
                </a:solidFill>
                <a:effectLst/>
                <a:latin typeface="Times New Roman" panose="02020603050405020304" pitchFamily="18" charset="0"/>
                <a:ea typeface="Times New Roman" panose="02020603050405020304" pitchFamily="18" charset="0"/>
              </a:rPr>
              <a:t>15% Testing</a:t>
            </a:r>
          </a:p>
          <a:p>
            <a:r>
              <a:rPr lang="en-IN" sz="1050" dirty="0">
                <a:solidFill>
                  <a:schemeClr val="tx1"/>
                </a:solidFill>
                <a:effectLst/>
                <a:latin typeface="Times New Roman" panose="02020603050405020304" pitchFamily="18" charset="0"/>
                <a:ea typeface="Times New Roman" panose="02020603050405020304" pitchFamily="18" charset="0"/>
              </a:rPr>
              <a:t>This dataset ensures that the model can detect all relevant safety-critical scenarios in tunnels</a:t>
            </a:r>
            <a:endParaRPr lang="en-IN" sz="1050" dirty="0">
              <a:solidFill>
                <a:schemeClr val="tx1"/>
              </a:solidFill>
            </a:endParaRPr>
          </a:p>
        </p:txBody>
      </p:sp>
    </p:spTree>
    <p:extLst>
      <p:ext uri="{BB962C8B-B14F-4D97-AF65-F5344CB8AC3E}">
        <p14:creationId xmlns:p14="http://schemas.microsoft.com/office/powerpoint/2010/main" val="899369144"/>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200350" cy="232756"/>
          </a:xfrm>
          <a:prstGeom prst="rect">
            <a:avLst/>
          </a:prstGeom>
        </p:spPr>
        <p:txBody>
          <a:bodyPr vert="horz" wrap="square" lIns="0" tIns="17145" rIns="0" bIns="0" rtlCol="0">
            <a:spAutoFit/>
          </a:bodyPr>
          <a:lstStyle/>
          <a:p>
            <a:pPr marL="12700">
              <a:lnSpc>
                <a:spcPct val="100000"/>
              </a:lnSpc>
              <a:spcBef>
                <a:spcPts val="135"/>
              </a:spcBef>
            </a:pPr>
            <a:r>
              <a:rPr lang="en-IN" sz="1400" spc="-10" dirty="0">
                <a:solidFill>
                  <a:srgbClr val="FFFFFF"/>
                </a:solidFill>
                <a:latin typeface="Arial MT"/>
                <a:cs typeface="Arial MT"/>
              </a:rPr>
              <a:t>Conclusion</a:t>
            </a:r>
            <a:endParaRPr sz="14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16</a:t>
            </a:fld>
            <a:r>
              <a:rPr spc="-70" dirty="0"/>
              <a:t> </a:t>
            </a:r>
            <a:r>
              <a:rPr dirty="0"/>
              <a:t>/</a:t>
            </a:r>
            <a:r>
              <a:rPr spc="-65" dirty="0"/>
              <a:t> </a:t>
            </a:r>
            <a:r>
              <a:rPr spc="-25" dirty="0"/>
              <a:t>15</a:t>
            </a:r>
          </a:p>
        </p:txBody>
      </p:sp>
      <p:grpSp>
        <p:nvGrpSpPr>
          <p:cNvPr id="14" name="object 10">
            <a:extLst>
              <a:ext uri="{FF2B5EF4-FFF2-40B4-BE49-F238E27FC236}">
                <a16:creationId xmlns:a16="http://schemas.microsoft.com/office/drawing/2014/main" id="{1242BC40-8FAF-09B0-062D-B91AAA9B07E0}"/>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CEFF16F5-9283-631B-3AAB-054B9600E0E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597F34B6-87BC-5BE1-8766-F884EB4DDB14}"/>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0D1A796B-5C01-4CBF-8E0E-43F248FDFC27}"/>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720C2CFB-B948-D733-8222-BCBB1CCC83CB}"/>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F52E7D6B-4FB0-3D36-4F95-CB030DBF3F37}"/>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660495A9-D8BB-0BE7-8019-CDC52E3176BA}"/>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1" name="object 17">
            <a:extLst>
              <a:ext uri="{FF2B5EF4-FFF2-40B4-BE49-F238E27FC236}">
                <a16:creationId xmlns:a16="http://schemas.microsoft.com/office/drawing/2014/main" id="{9ED2D8EF-4AE1-95E7-1AB4-2AD87F094F33}"/>
              </a:ext>
            </a:extLst>
          </p:cNvPr>
          <p:cNvSpPr txBox="1">
            <a:spLocks/>
          </p:cNvSpPr>
          <p:nvPr/>
        </p:nvSpPr>
        <p:spPr>
          <a:xfrm>
            <a:off x="4286250" y="3332481"/>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16</a:t>
            </a:fld>
            <a:r>
              <a:rPr lang="en-IN" spc="-70" dirty="0"/>
              <a:t> </a:t>
            </a:r>
            <a:r>
              <a:rPr lang="en-IN" dirty="0"/>
              <a:t>/</a:t>
            </a:r>
            <a:r>
              <a:rPr lang="en-IN" spc="-65" dirty="0"/>
              <a:t> </a:t>
            </a:r>
            <a:r>
              <a:rPr lang="en-IN" spc="-25" dirty="0"/>
              <a:t>11</a:t>
            </a:r>
          </a:p>
        </p:txBody>
      </p:sp>
      <p:sp>
        <p:nvSpPr>
          <p:cNvPr id="4" name="Rectangle 3">
            <a:extLst>
              <a:ext uri="{FF2B5EF4-FFF2-40B4-BE49-F238E27FC236}">
                <a16:creationId xmlns:a16="http://schemas.microsoft.com/office/drawing/2014/main" id="{50E01ACF-9271-F925-2C16-2C8C0D1DCC1C}"/>
              </a:ext>
            </a:extLst>
          </p:cNvPr>
          <p:cNvSpPr/>
          <p:nvPr/>
        </p:nvSpPr>
        <p:spPr>
          <a:xfrm>
            <a:off x="171450" y="587375"/>
            <a:ext cx="4370411" cy="24384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buFont typeface="Arial" panose="020B0604020202020204" pitchFamily="34" charset="0"/>
              <a:buChar char="•"/>
            </a:pPr>
            <a:r>
              <a:rPr lang="en-US" sz="1100" dirty="0"/>
              <a:t>The ODTS uses Faster R-CNN for detection and DeepSORT for tracking to identify tunnel accidents (wrong-way driving, stoppage, pedestrian intrusion, fire) with real-time monitoring and alerts.</a:t>
            </a:r>
          </a:p>
          <a:p>
            <a:pPr>
              <a:buFont typeface="Arial" panose="020B0604020202020204" pitchFamily="34" charset="0"/>
              <a:buChar char="•"/>
            </a:pPr>
            <a:endParaRPr lang="en-US" sz="1100" dirty="0"/>
          </a:p>
          <a:p>
            <a:pPr>
              <a:buFont typeface="Arial" panose="020B0604020202020204" pitchFamily="34" charset="0"/>
              <a:buChar char="•"/>
            </a:pPr>
            <a:r>
              <a:rPr lang="en-US" sz="1100" dirty="0"/>
              <a:t>It minimizes reliance on manual surveillance, is scalable across tunnels or traffic environments, and significantly enhances safety by supporting proactive accident prevention.</a:t>
            </a:r>
          </a:p>
          <a:p>
            <a:pPr algn="l"/>
            <a:endParaRPr lang="en-IN" sz="1100" dirty="0"/>
          </a:p>
        </p:txBody>
      </p:sp>
    </p:spTree>
    <p:extLst>
      <p:ext uri="{BB962C8B-B14F-4D97-AF65-F5344CB8AC3E}">
        <p14:creationId xmlns:p14="http://schemas.microsoft.com/office/powerpoint/2010/main" val="539587412"/>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200350" cy="232756"/>
          </a:xfrm>
          <a:prstGeom prst="rect">
            <a:avLst/>
          </a:prstGeom>
        </p:spPr>
        <p:txBody>
          <a:bodyPr vert="horz" wrap="square" lIns="0" tIns="17145" rIns="0" bIns="0" rtlCol="0">
            <a:spAutoFit/>
          </a:bodyPr>
          <a:lstStyle/>
          <a:p>
            <a:pPr marL="12700">
              <a:lnSpc>
                <a:spcPct val="100000"/>
              </a:lnSpc>
              <a:spcBef>
                <a:spcPts val="135"/>
              </a:spcBef>
            </a:pPr>
            <a:r>
              <a:rPr lang="en-IN" sz="1400" spc="-10" dirty="0">
                <a:solidFill>
                  <a:srgbClr val="FFFFFF"/>
                </a:solidFill>
                <a:latin typeface="Arial MT"/>
                <a:cs typeface="Arial MT"/>
              </a:rPr>
              <a:t>References</a:t>
            </a:r>
            <a:endParaRPr sz="1400" dirty="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11" name="object 11"/>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rPr>
              <a:t>Short</a:t>
            </a:r>
            <a:r>
              <a:rPr sz="600" spc="5" dirty="0">
                <a:solidFill>
                  <a:srgbClr val="FFFFFF"/>
                </a:solidFill>
                <a:latin typeface="Arial MT"/>
                <a:cs typeface="Arial MT"/>
              </a:rPr>
              <a:t> </a:t>
            </a:r>
            <a:r>
              <a:rPr sz="600" spc="-10" dirty="0">
                <a:solidFill>
                  <a:srgbClr val="FFFFFF"/>
                </a:solidFill>
                <a:latin typeface="Arial MT"/>
                <a:cs typeface="Arial MT"/>
              </a:rPr>
              <a:t>Title</a:t>
            </a:r>
            <a:endParaRPr sz="600">
              <a:latin typeface="Arial MT"/>
              <a:cs typeface="Arial MT"/>
            </a:endParaRPr>
          </a:p>
        </p:txBody>
      </p:sp>
      <p:sp>
        <p:nvSpPr>
          <p:cNvPr id="12" name="object 12"/>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17</a:t>
            </a:fld>
            <a:r>
              <a:rPr spc="-70" dirty="0"/>
              <a:t> </a:t>
            </a:r>
            <a:r>
              <a:rPr dirty="0"/>
              <a:t>/</a:t>
            </a:r>
            <a:r>
              <a:rPr spc="-65" dirty="0"/>
              <a:t> </a:t>
            </a:r>
            <a:r>
              <a:rPr spc="-25" dirty="0"/>
              <a:t>15</a:t>
            </a:r>
          </a:p>
        </p:txBody>
      </p:sp>
      <p:grpSp>
        <p:nvGrpSpPr>
          <p:cNvPr id="14" name="object 10">
            <a:extLst>
              <a:ext uri="{FF2B5EF4-FFF2-40B4-BE49-F238E27FC236}">
                <a16:creationId xmlns:a16="http://schemas.microsoft.com/office/drawing/2014/main" id="{1242BC40-8FAF-09B0-062D-B91AAA9B07E0}"/>
              </a:ext>
            </a:extLst>
          </p:cNvPr>
          <p:cNvGrpSpPr/>
          <p:nvPr/>
        </p:nvGrpSpPr>
        <p:grpSpPr>
          <a:xfrm>
            <a:off x="0" y="3328394"/>
            <a:ext cx="4598566" cy="126303"/>
            <a:chOff x="0" y="3326968"/>
            <a:chExt cx="4608017" cy="129539"/>
          </a:xfrm>
        </p:grpSpPr>
        <p:sp>
          <p:nvSpPr>
            <p:cNvPr id="15" name="object 11">
              <a:extLst>
                <a:ext uri="{FF2B5EF4-FFF2-40B4-BE49-F238E27FC236}">
                  <a16:creationId xmlns:a16="http://schemas.microsoft.com/office/drawing/2014/main" id="{CEFF16F5-9283-631B-3AAB-054B9600E0E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6" name="object 12">
              <a:extLst>
                <a:ext uri="{FF2B5EF4-FFF2-40B4-BE49-F238E27FC236}">
                  <a16:creationId xmlns:a16="http://schemas.microsoft.com/office/drawing/2014/main" id="{597F34B6-87BC-5BE1-8766-F884EB4DDB14}"/>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dirty="0"/>
            </a:p>
          </p:txBody>
        </p:sp>
        <p:sp>
          <p:nvSpPr>
            <p:cNvPr id="17" name="object 13">
              <a:extLst>
                <a:ext uri="{FF2B5EF4-FFF2-40B4-BE49-F238E27FC236}">
                  <a16:creationId xmlns:a16="http://schemas.microsoft.com/office/drawing/2014/main" id="{0D1A796B-5C01-4CBF-8E0E-43F248FDFC27}"/>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8" name="object 14">
            <a:extLst>
              <a:ext uri="{FF2B5EF4-FFF2-40B4-BE49-F238E27FC236}">
                <a16:creationId xmlns:a16="http://schemas.microsoft.com/office/drawing/2014/main" id="{720C2CFB-B948-D733-8222-BCBB1CCC83CB}"/>
              </a:ext>
            </a:extLst>
          </p:cNvPr>
          <p:cNvSpPr txBox="1">
            <a:spLocks/>
          </p:cNvSpPr>
          <p:nvPr/>
        </p:nvSpPr>
        <p:spPr>
          <a:xfrm>
            <a:off x="421944" y="3331252"/>
            <a:ext cx="692150" cy="119379"/>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a:t>Dept</a:t>
            </a:r>
            <a:r>
              <a:rPr lang="en-IN" spc="-25"/>
              <a:t> </a:t>
            </a:r>
            <a:r>
              <a:rPr lang="en-IN"/>
              <a:t>of</a:t>
            </a:r>
            <a:r>
              <a:rPr lang="en-IN" spc="-20"/>
              <a:t> </a:t>
            </a:r>
            <a:r>
              <a:rPr lang="en-IN"/>
              <a:t>Comp</a:t>
            </a:r>
            <a:r>
              <a:rPr lang="en-IN" spc="-20"/>
              <a:t> Engg</a:t>
            </a:r>
            <a:endParaRPr lang="en-IN" spc="-20" dirty="0"/>
          </a:p>
        </p:txBody>
      </p:sp>
      <p:sp>
        <p:nvSpPr>
          <p:cNvPr id="19" name="object 15">
            <a:extLst>
              <a:ext uri="{FF2B5EF4-FFF2-40B4-BE49-F238E27FC236}">
                <a16:creationId xmlns:a16="http://schemas.microsoft.com/office/drawing/2014/main" id="{F52E7D6B-4FB0-3D36-4F95-CB030DBF3F37}"/>
              </a:ext>
            </a:extLst>
          </p:cNvPr>
          <p:cNvSpPr txBox="1"/>
          <p:nvPr/>
        </p:nvSpPr>
        <p:spPr>
          <a:xfrm>
            <a:off x="1801190" y="3349321"/>
            <a:ext cx="1113459" cy="101310"/>
          </a:xfrm>
          <a:prstGeom prst="rect">
            <a:avLst/>
          </a:prstGeom>
        </p:spPr>
        <p:txBody>
          <a:bodyPr vert="horz" wrap="square" lIns="0" tIns="8890" rIns="0" bIns="0" rtlCol="0">
            <a:spAutoFit/>
          </a:bodyPr>
          <a:lstStyle/>
          <a:p>
            <a:pPr marL="12700">
              <a:lnSpc>
                <a:spcPct val="100000"/>
              </a:lnSpc>
              <a:spcBef>
                <a:spcPts val="70"/>
              </a:spcBef>
            </a:pPr>
            <a:r>
              <a:rPr lang="en-IN" sz="600" dirty="0">
                <a:solidFill>
                  <a:schemeClr val="bg1"/>
                </a:solidFill>
                <a:latin typeface="Arial MT"/>
                <a:cs typeface="Arial MT"/>
              </a:rPr>
              <a:t>Object Detection And Tracking </a:t>
            </a:r>
            <a:endParaRPr sz="600" dirty="0">
              <a:solidFill>
                <a:schemeClr val="bg1"/>
              </a:solidFill>
              <a:latin typeface="Arial MT"/>
              <a:cs typeface="Arial MT"/>
            </a:endParaRPr>
          </a:p>
        </p:txBody>
      </p:sp>
      <p:sp>
        <p:nvSpPr>
          <p:cNvPr id="20" name="object 16">
            <a:extLst>
              <a:ext uri="{FF2B5EF4-FFF2-40B4-BE49-F238E27FC236}">
                <a16:creationId xmlns:a16="http://schemas.microsoft.com/office/drawing/2014/main" id="{660495A9-D8BB-0BE7-8019-CDC52E3176BA}"/>
              </a:ext>
            </a:extLst>
          </p:cNvPr>
          <p:cNvSpPr txBox="1">
            <a:spLocks/>
          </p:cNvSpPr>
          <p:nvPr/>
        </p:nvSpPr>
        <p:spPr>
          <a:xfrm>
            <a:off x="3432695" y="3331252"/>
            <a:ext cx="705077"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12700">
              <a:spcBef>
                <a:spcPts val="70"/>
              </a:spcBef>
            </a:pPr>
            <a:r>
              <a:rPr lang="en-IN" spc="-10"/>
              <a:t>12-September-</a:t>
            </a:r>
            <a:r>
              <a:rPr lang="en-IN" spc="-20"/>
              <a:t>2025</a:t>
            </a:r>
            <a:endParaRPr lang="en-IN" spc="-20" dirty="0"/>
          </a:p>
        </p:txBody>
      </p:sp>
      <p:sp>
        <p:nvSpPr>
          <p:cNvPr id="21" name="object 17">
            <a:extLst>
              <a:ext uri="{FF2B5EF4-FFF2-40B4-BE49-F238E27FC236}">
                <a16:creationId xmlns:a16="http://schemas.microsoft.com/office/drawing/2014/main" id="{9ED2D8EF-4AE1-95E7-1AB4-2AD87F094F33}"/>
              </a:ext>
            </a:extLst>
          </p:cNvPr>
          <p:cNvSpPr txBox="1">
            <a:spLocks/>
          </p:cNvSpPr>
          <p:nvPr/>
        </p:nvSpPr>
        <p:spPr>
          <a:xfrm>
            <a:off x="4286250" y="3332481"/>
            <a:ext cx="266700" cy="101310"/>
          </a:xfrm>
          <a:prstGeom prst="rect">
            <a:avLst/>
          </a:prstGeom>
        </p:spPr>
        <p:txBody>
          <a:bodyPr vert="horz" wrap="square" lIns="0" tIns="8890" rIns="0" bIns="0" rtlCol="0">
            <a:spAutoFit/>
          </a:bodyPr>
          <a:lstStyle>
            <a:defPPr>
              <a:defRPr kern="0"/>
            </a:defPPr>
            <a:lvl1pPr>
              <a:defRPr sz="600" b="0" i="0">
                <a:solidFill>
                  <a:schemeClr val="bg1"/>
                </a:solidFill>
                <a:latin typeface="Arial MT"/>
                <a:cs typeface="Arial MT"/>
              </a:defRPr>
            </a:lvl1pPr>
          </a:lstStyle>
          <a:p>
            <a:pPr marL="38100">
              <a:spcBef>
                <a:spcPts val="70"/>
              </a:spcBef>
            </a:pPr>
            <a:fld id="{81D60167-4931-47E6-BA6A-407CBD079E47}" type="slidenum">
              <a:rPr lang="en-IN" spc="-10" smtClean="0"/>
              <a:pPr marL="38100">
                <a:spcBef>
                  <a:spcPts val="70"/>
                </a:spcBef>
              </a:pPr>
              <a:t>17</a:t>
            </a:fld>
            <a:r>
              <a:rPr lang="en-IN" spc="-70" dirty="0"/>
              <a:t> </a:t>
            </a:r>
            <a:r>
              <a:rPr lang="en-IN" dirty="0"/>
              <a:t>/</a:t>
            </a:r>
            <a:r>
              <a:rPr lang="en-IN" spc="-65" dirty="0"/>
              <a:t> </a:t>
            </a:r>
            <a:r>
              <a:rPr lang="en-IN" spc="-25" dirty="0"/>
              <a:t>11</a:t>
            </a:r>
          </a:p>
        </p:txBody>
      </p:sp>
      <p:sp>
        <p:nvSpPr>
          <p:cNvPr id="4" name="Rectangle 3">
            <a:extLst>
              <a:ext uri="{FF2B5EF4-FFF2-40B4-BE49-F238E27FC236}">
                <a16:creationId xmlns:a16="http://schemas.microsoft.com/office/drawing/2014/main" id="{50E01ACF-9271-F925-2C16-2C8C0D1DCC1C}"/>
              </a:ext>
            </a:extLst>
          </p:cNvPr>
          <p:cNvSpPr/>
          <p:nvPr/>
        </p:nvSpPr>
        <p:spPr>
          <a:xfrm>
            <a:off x="171450" y="587375"/>
            <a:ext cx="4370411" cy="24384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l"/>
            <a:endParaRPr lang="en-IN" sz="1200" dirty="0"/>
          </a:p>
        </p:txBody>
      </p:sp>
      <p:sp>
        <p:nvSpPr>
          <p:cNvPr id="6" name="TextBox 5">
            <a:extLst>
              <a:ext uri="{FF2B5EF4-FFF2-40B4-BE49-F238E27FC236}">
                <a16:creationId xmlns:a16="http://schemas.microsoft.com/office/drawing/2014/main" id="{17F25D52-3250-5B9D-F8AE-A7E5B25767EB}"/>
              </a:ext>
            </a:extLst>
          </p:cNvPr>
          <p:cNvSpPr txBox="1"/>
          <p:nvPr/>
        </p:nvSpPr>
        <p:spPr>
          <a:xfrm>
            <a:off x="33003" y="410331"/>
            <a:ext cx="4352774" cy="2238433"/>
          </a:xfrm>
          <a:prstGeom prst="rect">
            <a:avLst/>
          </a:prstGeom>
          <a:noFill/>
        </p:spPr>
        <p:txBody>
          <a:bodyPr wrap="square">
            <a:spAutoFit/>
          </a:bodyPr>
          <a:lstStyle/>
          <a:p>
            <a:pPr marL="53975" marR="262890" algn="just">
              <a:lnSpc>
                <a:spcPct val="105000"/>
              </a:lnSpc>
              <a:spcBef>
                <a:spcPts val="65"/>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rPr>
              <a:t>[1].</a:t>
            </a:r>
            <a:r>
              <a:rPr lang="en-IN" sz="1200" dirty="0">
                <a:effectLst/>
                <a:latin typeface="Times New Roman" panose="02020603050405020304" pitchFamily="18" charset="0"/>
                <a:ea typeface="Times New Roman" panose="02020603050405020304" pitchFamily="18" charset="0"/>
              </a:rPr>
              <a:t>E. S. Lee, W. Choi, D. </a:t>
            </a:r>
            <a:r>
              <a:rPr lang="en-IN" sz="1200" dirty="0" err="1">
                <a:effectLst/>
                <a:latin typeface="Times New Roman" panose="02020603050405020304" pitchFamily="18" charset="0"/>
                <a:ea typeface="Times New Roman" panose="02020603050405020304" pitchFamily="18" charset="0"/>
              </a:rPr>
              <a:t>Kum</a:t>
            </a:r>
            <a:r>
              <a:rPr lang="en-IN" sz="1200" dirty="0">
                <a:effectLst/>
                <a:latin typeface="Times New Roman" panose="02020603050405020304" pitchFamily="18" charset="0"/>
                <a:ea typeface="Times New Roman" panose="02020603050405020304" pitchFamily="18" charset="0"/>
              </a:rPr>
              <a:t>, “Bird’s eye view localization of surrounding vehicles :</a:t>
            </a:r>
            <a:r>
              <a:rPr lang="en-IN" sz="1200" dirty="0" err="1">
                <a:effectLst/>
                <a:latin typeface="Times New Roman" panose="02020603050405020304" pitchFamily="18" charset="0"/>
                <a:ea typeface="Times New Roman" panose="02020603050405020304" pitchFamily="18" charset="0"/>
              </a:rPr>
              <a:t>Longitudinaland</a:t>
            </a:r>
            <a:r>
              <a:rPr lang="en-IN" sz="1200" dirty="0">
                <a:effectLst/>
                <a:latin typeface="Times New Roman" panose="02020603050405020304" pitchFamily="18" charset="0"/>
                <a:ea typeface="Times New Roman" panose="02020603050405020304" pitchFamily="18" charset="0"/>
              </a:rPr>
              <a:t> lateral distance estimation with partial appearance,” Robotics and Autonomous Systems, 2019, vol. 112, pp. 178-189. </a:t>
            </a:r>
          </a:p>
          <a:p>
            <a:pPr marL="53975" marR="262890" algn="just">
              <a:lnSpc>
                <a:spcPct val="105000"/>
              </a:lnSpc>
              <a:spcBef>
                <a:spcPts val="65"/>
              </a:spcBef>
              <a:spcAft>
                <a:spcPts val="0"/>
              </a:spcAft>
            </a:pPr>
            <a:r>
              <a:rPr lang="en-IN" sz="1200" dirty="0">
                <a:effectLst/>
                <a:latin typeface="Times New Roman" panose="02020603050405020304" pitchFamily="18" charset="0"/>
                <a:ea typeface="Times New Roman" panose="02020603050405020304" pitchFamily="18" charset="0"/>
              </a:rPr>
              <a:t>[2] L. Cao, Q. Jiang, M. Cheng, C. Wang, “Robust vehicle detection by combining deep features with exemplar Neurocomputing, 2016, vol. 215, pp. 225-231. classification,” </a:t>
            </a:r>
          </a:p>
          <a:p>
            <a:pPr marL="53975" marR="262890" algn="just">
              <a:lnSpc>
                <a:spcPct val="105000"/>
              </a:lnSpc>
              <a:spcBef>
                <a:spcPts val="65"/>
              </a:spcBef>
              <a:spcAft>
                <a:spcPts val="0"/>
              </a:spcAft>
            </a:pPr>
            <a:r>
              <a:rPr lang="en-IN" sz="1200" dirty="0">
                <a:effectLst/>
                <a:latin typeface="Times New Roman" panose="02020603050405020304" pitchFamily="18" charset="0"/>
                <a:ea typeface="Times New Roman" panose="02020603050405020304" pitchFamily="18" charset="0"/>
              </a:rPr>
              <a:t>[3].</a:t>
            </a:r>
            <a:r>
              <a:rPr lang="en-IN" sz="1200" dirty="0" err="1">
                <a:solidFill>
                  <a:srgbClr val="000000"/>
                </a:solidFill>
                <a:effectLst/>
                <a:latin typeface="Times New Roman" panose="02020603050405020304" pitchFamily="18" charset="0"/>
                <a:ea typeface="Times New Roman" panose="02020603050405020304" pitchFamily="18" charset="0"/>
              </a:rPr>
              <a:t>Alzubaidi</a:t>
            </a:r>
            <a:r>
              <a:rPr lang="en-IN" sz="1200" dirty="0">
                <a:solidFill>
                  <a:srgbClr val="000000"/>
                </a:solidFill>
                <a:effectLst/>
                <a:latin typeface="Times New Roman" panose="02020603050405020304" pitchFamily="18" charset="0"/>
                <a:ea typeface="Times New Roman" panose="02020603050405020304" pitchFamily="18" charset="0"/>
              </a:rPr>
              <a:t>, L., Zhang, J., </a:t>
            </a:r>
            <a:r>
              <a:rPr lang="en-IN" sz="1200" dirty="0" err="1">
                <a:solidFill>
                  <a:srgbClr val="000000"/>
                </a:solidFill>
                <a:effectLst/>
                <a:latin typeface="Times New Roman" panose="02020603050405020304" pitchFamily="18" charset="0"/>
                <a:ea typeface="Times New Roman" panose="02020603050405020304" pitchFamily="18" charset="0"/>
              </a:rPr>
              <a:t>Humaidi</a:t>
            </a:r>
            <a:r>
              <a:rPr lang="en-IN" sz="1200" dirty="0">
                <a:solidFill>
                  <a:srgbClr val="000000"/>
                </a:solidFill>
                <a:effectLst/>
                <a:latin typeface="Times New Roman" panose="02020603050405020304" pitchFamily="18" charset="0"/>
                <a:ea typeface="Times New Roman" panose="02020603050405020304" pitchFamily="18" charset="0"/>
              </a:rPr>
              <a:t>, A.J. et al. Review of deep learning: concepts, CNN architectures,</a:t>
            </a:r>
            <a:endParaRPr lang="en-IN" sz="1200" dirty="0">
              <a:effectLst/>
              <a:latin typeface="Times New Roman" panose="02020603050405020304" pitchFamily="18" charset="0"/>
              <a:ea typeface="Times New Roman" panose="02020603050405020304" pitchFamily="18" charset="0"/>
            </a:endParaRPr>
          </a:p>
          <a:p>
            <a:pPr marL="53975" marR="52705" algn="just">
              <a:lnSpc>
                <a:spcPct val="105000"/>
              </a:lnSpc>
              <a:spcAft>
                <a:spcPts val="0"/>
              </a:spcAft>
            </a:pPr>
            <a:r>
              <a:rPr lang="en-IN" sz="1200" dirty="0">
                <a:solidFill>
                  <a:srgbClr val="000000"/>
                </a:solidFill>
                <a:effectLst/>
                <a:latin typeface="Times New Roman" panose="02020603050405020304" pitchFamily="18" charset="0"/>
                <a:ea typeface="Times New Roman" panose="02020603050405020304" pitchFamily="18" charset="0"/>
              </a:rPr>
              <a:t>challenges, applications, future directions. J Big Data 8, 53 (2021). </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69667731"/>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7678" y="199857"/>
            <a:ext cx="4296693" cy="2840789"/>
          </a:xfrm>
          <a:prstGeom prst="rect">
            <a:avLst/>
          </a:prstGeom>
        </p:spPr>
      </p:pic>
      <p:grpSp>
        <p:nvGrpSpPr>
          <p:cNvPr id="3" name="object 3"/>
          <p:cNvGrpSpPr/>
          <p:nvPr/>
        </p:nvGrpSpPr>
        <p:grpSpPr>
          <a:xfrm>
            <a:off x="0" y="3326968"/>
            <a:ext cx="4608017" cy="129539"/>
            <a:chOff x="0" y="3326968"/>
            <a:chExt cx="4608017" cy="129539"/>
          </a:xfrm>
        </p:grpSpPr>
        <p:sp>
          <p:nvSpPr>
            <p:cNvPr id="4" name="object 4"/>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5" name="object 5"/>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6" name="object 6"/>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dirty="0"/>
            </a:p>
          </p:txBody>
        </p:sp>
      </p:grpSp>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Engg</a:t>
            </a:r>
          </a:p>
        </p:txBody>
      </p:sp>
      <p:sp>
        <p:nvSpPr>
          <p:cNvPr id="8" name="object 8"/>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hlinkClick r:id="rId3" action="ppaction://hlinksldjump"/>
              </a:rPr>
              <a:t>Short</a:t>
            </a:r>
            <a:r>
              <a:rPr sz="600" spc="5" dirty="0">
                <a:solidFill>
                  <a:srgbClr val="FFFFFF"/>
                </a:solidFill>
                <a:latin typeface="Arial MT"/>
                <a:cs typeface="Arial MT"/>
                <a:hlinkClick r:id="rId3" action="ppaction://hlinksldjump"/>
              </a:rPr>
              <a:t> </a:t>
            </a:r>
            <a:r>
              <a:rPr sz="600" spc="-10" dirty="0">
                <a:solidFill>
                  <a:srgbClr val="FFFFFF"/>
                </a:solidFill>
                <a:latin typeface="Arial MT"/>
                <a:cs typeface="Arial MT"/>
                <a:hlinkClick r:id="rId3" action="ppaction://hlinksldjump"/>
              </a:rPr>
              <a:t>Title</a:t>
            </a:r>
            <a:endParaRPr sz="600">
              <a:latin typeface="Arial MT"/>
              <a:cs typeface="Arial MT"/>
            </a:endParaRPr>
          </a:p>
        </p:txBody>
      </p:sp>
      <p:sp>
        <p:nvSpPr>
          <p:cNvPr id="9" name="object 9"/>
          <p:cNvSpPr txBox="1">
            <a:spLocks noGrp="1"/>
          </p:cNvSpPr>
          <p:nvPr>
            <p:ph type="dt" sz="half" idx="6"/>
          </p:nvPr>
        </p:nvSpPr>
        <p:spPr>
          <a:xfrm>
            <a:off x="3432695" y="3331252"/>
            <a:ext cx="599439" cy="101310"/>
          </a:xfrm>
          <a:prstGeom prst="rect">
            <a:avLst/>
          </a:prstGeom>
        </p:spPr>
        <p:txBody>
          <a:bodyPr vert="horz" wrap="square" lIns="0" tIns="8890" rIns="0" bIns="0" rtlCol="0">
            <a:spAutoFit/>
          </a:bodyPr>
          <a:lstStyle/>
          <a:p>
            <a:pPr marL="12700">
              <a:lnSpc>
                <a:spcPct val="100000"/>
              </a:lnSpc>
              <a:spcBef>
                <a:spcPts val="70"/>
              </a:spcBef>
            </a:pPr>
            <a:r>
              <a:rPr spc="-10" dirty="0"/>
              <a:t>dd-October-</a:t>
            </a:r>
            <a:r>
              <a:rPr spc="-20" dirty="0"/>
              <a:t>202</a:t>
            </a:r>
            <a:r>
              <a:rPr lang="en-US" spc="-20" dirty="0"/>
              <a:t>5</a:t>
            </a:r>
            <a:endParaRPr spc="-20" dirty="0"/>
          </a:p>
        </p:txBody>
      </p:sp>
      <p:sp>
        <p:nvSpPr>
          <p:cNvPr id="10" name="object 10"/>
          <p:cNvSpPr txBox="1">
            <a:spLocks noGrp="1"/>
          </p:cNvSpPr>
          <p:nvPr>
            <p:ph type="sldNum" sz="quarter" idx="7"/>
          </p:nvPr>
        </p:nvSpPr>
        <p:spPr>
          <a:xfrm>
            <a:off x="4275161" y="3331252"/>
            <a:ext cx="266700" cy="206467"/>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18</a:t>
            </a:fld>
            <a:r>
              <a:rPr spc="-70" dirty="0"/>
              <a:t> </a:t>
            </a:r>
            <a:r>
              <a:rPr dirty="0"/>
              <a:t>/</a:t>
            </a:r>
            <a:r>
              <a:rPr spc="-65" dirty="0"/>
              <a:t> </a:t>
            </a:r>
            <a:r>
              <a:rPr spc="-25" dirty="0"/>
              <a:t>1</a:t>
            </a:r>
            <a:r>
              <a:rPr lang="en-IN" spc="-25" dirty="0"/>
              <a:t>1</a:t>
            </a:r>
          </a:p>
          <a:p>
            <a:pPr marL="38100">
              <a:lnSpc>
                <a:spcPct val="100000"/>
              </a:lnSpc>
              <a:spcBef>
                <a:spcPts val="70"/>
              </a:spcBef>
            </a:pPr>
            <a:endParaRPr spc="-25"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815</TotalTime>
  <Words>1988</Words>
  <Application>Microsoft Office PowerPoint</Application>
  <PresentationFormat>Custom</PresentationFormat>
  <Paragraphs>302</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MT</vt:lpstr>
      <vt:lpstr>Calibri</vt:lpstr>
      <vt:lpstr>Symbol</vt:lpstr>
      <vt:lpstr>Times New Roman</vt:lpstr>
      <vt:lpstr>Wingdings</vt:lpstr>
      <vt:lpstr>Office Theme</vt:lpstr>
      <vt:lpstr>Deep Learning-Based Object Detection and Tracking System for Automatic Accident Detection in Tunnel CCTV Surveillance</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Name of Student  , Guide- Dr. S. N. Deshpande</dc:creator>
  <cp:lastModifiedBy>Administrator</cp:lastModifiedBy>
  <cp:revision>32</cp:revision>
  <dcterms:created xsi:type="dcterms:W3CDTF">2025-07-07T09:26:54Z</dcterms:created>
  <dcterms:modified xsi:type="dcterms:W3CDTF">2025-10-10T05:12:19Z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2024-10-17T00:00:00Z</vt:filetime>
  </property>
  <property fmtid="{D5CDD505-2E9C-101B-9397-08002B2CF9AE}" pid="3" name="Creator">
    <vt:lpwstr>LaTeX with Beamer class</vt:lpwstr>
  </property>
  <property fmtid="{D5CDD505-2E9C-101B-9397-08002B2CF9AE}" pid="4" name="LastSaved">
    <vt:filetime>2025-07-07T00:00:00Z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